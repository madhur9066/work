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3" r:id="rId10"/>
    <p:sldId id="264" r:id="rId11"/>
    <p:sldId id="269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620"/>
            <a:ext cx="12188952" cy="6858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7867015" y="0"/>
            <a:ext cx="4325112" cy="6858000"/>
          </a:xfrm>
          <a:prstGeom prst="rect">
            <a:avLst/>
          </a:prstGeom>
          <a:solidFill>
            <a:srgbClr val="2B2B2B">
              <a:alpha val="7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126480" y="0"/>
            <a:ext cx="6172200" cy="5589905"/>
          </a:xfrm>
          <a:prstGeom prst="ellipse">
            <a:avLst/>
          </a:prstGeom>
          <a:solidFill>
            <a:srgbClr val="D71E28">
              <a:alpha val="18000"/>
            </a:srgbClr>
          </a:solidFill>
        </p:spPr>
        <p:txBody>
          <a:bodyPr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69680" y="4206240"/>
            <a:ext cx="3291840" cy="3291840"/>
          </a:xfrm>
          <a:prstGeom prst="ellipse">
            <a:avLst/>
          </a:prstGeom>
          <a:solidFill>
            <a:srgbClr val="FFCD41">
              <a:alpha val="12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640080" y="777240"/>
            <a:ext cx="786384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Web Server Load Balancer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with Shared NFS</a:t>
            </a:r>
            <a:r>
              <a:rPr lang="en-IN" alt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/NAS</a:t>
            </a: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Storage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499360"/>
            <a:ext cx="69494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High-availability Apache web tier behind an HAProxy load balancer, backed by shared NFS</a:t>
            </a:r>
            <a:r>
              <a:rPr lang="en-IN" altLang="en-US" sz="13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13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storage.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800600"/>
            <a:ext cx="566928" cy="566928"/>
          </a:xfrm>
          <a:prstGeom prst="ellipse">
            <a:avLst/>
          </a:prstGeom>
          <a:solidFill>
            <a:srgbClr val="2B2B2B"/>
          </a:solidFill>
          <a:ln w="15875">
            <a:solidFill>
              <a:srgbClr val="D71E28"/>
            </a:solidFill>
            <a:prstDash val="solid"/>
          </a:ln>
        </p:spPr>
      </p:sp>
      <p:pic>
        <p:nvPicPr>
          <p:cNvPr id="10" name="Image 0" descr="/home/claude/build/icons/server_FFFF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4919472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5422392"/>
            <a:ext cx="10241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 x3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874520" y="4800600"/>
            <a:ext cx="566928" cy="566928"/>
          </a:xfrm>
          <a:prstGeom prst="ellipse">
            <a:avLst/>
          </a:prstGeom>
          <a:solidFill>
            <a:srgbClr val="2B2B2B"/>
          </a:solidFill>
          <a:ln w="15875">
            <a:solidFill>
              <a:srgbClr val="D71E28"/>
            </a:solidFill>
            <a:prstDash val="solid"/>
          </a:ln>
        </p:spPr>
      </p:sp>
      <p:pic>
        <p:nvPicPr>
          <p:cNvPr id="13" name="Image 1" descr="/home/claude/build/icons/netwo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92" y="491947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5422392"/>
            <a:ext cx="10241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HAProxy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108960" y="4800600"/>
            <a:ext cx="566928" cy="566928"/>
          </a:xfrm>
          <a:prstGeom prst="ellipse">
            <a:avLst/>
          </a:prstGeom>
          <a:solidFill>
            <a:srgbClr val="2B2B2B"/>
          </a:solidFill>
          <a:ln w="15875">
            <a:solidFill>
              <a:srgbClr val="D71E28"/>
            </a:solidFill>
            <a:prstDash val="solid"/>
          </a:ln>
        </p:spPr>
      </p:sp>
      <p:pic>
        <p:nvPicPr>
          <p:cNvPr id="16" name="Image 2" descr="/home/claude/build/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832" y="491947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880360" y="5422392"/>
            <a:ext cx="10241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NFS</a:t>
            </a:r>
            <a:r>
              <a:rPr lang="en-IN" alt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endParaRPr lang="en-IN" altLang="en-US" sz="950" dirty="0">
              <a:solidFill>
                <a:srgbClr val="E0E0E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343400" y="4800600"/>
            <a:ext cx="566928" cy="566928"/>
          </a:xfrm>
          <a:prstGeom prst="ellipse">
            <a:avLst/>
          </a:prstGeom>
          <a:solidFill>
            <a:srgbClr val="2B2B2B"/>
          </a:solidFill>
          <a:ln w="15875">
            <a:solidFill>
              <a:srgbClr val="D71E28"/>
            </a:solidFill>
            <a:prstDash val="solid"/>
          </a:ln>
        </p:spPr>
      </p:sp>
      <p:pic>
        <p:nvPicPr>
          <p:cNvPr id="19" name="Image 3" descr="/home/claude/build/icons/uploa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4919472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114800" y="5422392"/>
            <a:ext cx="10241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</a:t>
            </a:r>
            <a:r>
              <a:rPr lang="en-IN" alt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/SCP Server</a:t>
            </a:r>
            <a:endParaRPr lang="en-IN" altLang="en-US" sz="950" dirty="0">
              <a:solidFill>
                <a:srgbClr val="E0E0E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altLang="en-US" sz="105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Madhu R</a:t>
            </a:r>
            <a:endParaRPr lang="en-IN" altLang="en-US" sz="1050" i="1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Network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Three-tier topology — client access, load-balanced compute, shared storage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667115" cy="1234440"/>
          </a:xfrm>
          <a:prstGeom prst="roundRect">
            <a:avLst>
              <a:gd name="adj" fmla="val 4444"/>
            </a:avLst>
          </a:prstGeom>
          <a:solidFill>
            <a:srgbClr val="EFEFE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72184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ZONE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8667750" cy="1371600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935224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LOAD-BALANCED WEB TIER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8661400" cy="1234440"/>
          </a:xfrm>
          <a:prstGeom prst="roundRect">
            <a:avLst>
              <a:gd name="adj" fmla="val 4444"/>
            </a:avLst>
          </a:prstGeom>
          <a:solidFill>
            <a:srgbClr val="EFEFE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489704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STORAGE TIER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68680" y="16916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11" name="Image 0" descr="/home/claude/build/icons/desktop_1E276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1819656"/>
            <a:ext cx="438912" cy="4389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22768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25694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257800" y="16916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D71E28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15" name="Image 1" descr="/home/claude/build/icons/network_2F6F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1819656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22768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HAProxy </a:t>
            </a:r>
            <a:r>
              <a:rPr lang="en-IN" alt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</a:t>
            </a: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GLB</a:t>
            </a:r>
            <a:r>
              <a:rPr lang="en-IN" alt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IN" altLang="en-US" sz="11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303520" y="25694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192.168.1.195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261475" y="1251585"/>
            <a:ext cx="2377440" cy="1471930"/>
          </a:xfrm>
          <a:prstGeom prst="roundRect">
            <a:avLst>
              <a:gd name="adj" fmla="val 16000"/>
            </a:avLst>
          </a:prstGeom>
          <a:solidFill>
            <a:schemeClr val="bg2"/>
          </a:solidFill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9" name="Text 15"/>
          <p:cNvSpPr/>
          <p:nvPr/>
        </p:nvSpPr>
        <p:spPr>
          <a:xfrm>
            <a:off x="9421495" y="1267460"/>
            <a:ext cx="2646045" cy="1433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IN" alt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 Address mapping</a:t>
            </a:r>
            <a:r>
              <a:rPr lang="en-IN" alt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br>
              <a:rPr lang="en-IN" alt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IN" alt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</a:t>
            </a: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Apache1:- 192.168.1.191</a:t>
            </a:r>
            <a:endParaRPr lang="en-US" sz="10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</a:t>
            </a: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Apache2:- </a:t>
            </a: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192.168.1.192</a:t>
            </a:r>
            <a:endParaRPr lang="en-US" sz="10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</a:t>
            </a: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Apache3:- </a:t>
            </a: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192.168.1.193</a:t>
            </a:r>
            <a:endParaRPr lang="en-US" sz="10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SCP Host:- 192.168.1.194</a:t>
            </a:r>
            <a:endParaRPr lang="en-US" sz="10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GLB Host:- 192.168.1.195</a:t>
            </a:r>
            <a:endParaRPr lang="en-US" sz="10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3383280" y="315468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1" name="Image 2" descr="/home/claude/build/icons/server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064" y="3282696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429000" y="373989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Apache-1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429000" y="403250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192.168.1.191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5257800" y="315468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5" name="Image 3" descr="/home/claude/build/icons/server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3282696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03520" y="373989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Apache-2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303520" y="403250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192.168.1.192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7132320" y="315468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9" name="Image 4" descr="/home/claude/build/icons/server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104" y="3282696"/>
            <a:ext cx="438912" cy="43891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178040" y="373989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Apache-3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7178040" y="403250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192.168.1.193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868680" y="315468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FCD41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33" name="Image 5" descr="/home/claude/build/icons/upload_F5A6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464" y="3282696"/>
            <a:ext cx="438912" cy="43891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14400" y="373989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</a:t>
            </a:r>
            <a:r>
              <a:rPr lang="en-IN" alt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/SCP</a:t>
            </a: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Server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914400" y="403250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192.168.1.194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5257800" y="470916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71E28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37" name="Image 6" descr="/home/claude/build/icons/database_2F6F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744" y="4837176"/>
            <a:ext cx="438912" cy="43891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303520" y="5294376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NFS</a:t>
            </a:r>
            <a:r>
              <a:rPr lang="en-IN" alt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Server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5303520" y="5586984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192.168.1.130:/nfs/shared</a:t>
            </a:r>
            <a:endParaRPr lang="en-US" sz="850" dirty="0"/>
          </a:p>
        </p:txBody>
      </p:sp>
      <p:sp>
        <p:nvSpPr>
          <p:cNvPr id="40" name="Shape 31"/>
          <p:cNvSpPr/>
          <p:nvPr/>
        </p:nvSpPr>
        <p:spPr>
          <a:xfrm>
            <a:off x="2423160" y="2304288"/>
            <a:ext cx="2834640" cy="914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6035040" y="2926080"/>
            <a:ext cx="914" cy="91440"/>
          </a:xfrm>
          <a:prstGeom prst="line">
            <a:avLst/>
          </a:prstGeom>
          <a:noFill/>
          <a:ln w="22225">
            <a:solidFill>
              <a:srgbClr val="D71E28"/>
            </a:solidFill>
            <a:prstDash val="solid"/>
            <a:tailEnd type="none"/>
          </a:ln>
        </p:spPr>
      </p:sp>
      <p:sp>
        <p:nvSpPr>
          <p:cNvPr id="42" name="Shape 33"/>
          <p:cNvSpPr/>
          <p:nvPr/>
        </p:nvSpPr>
        <p:spPr>
          <a:xfrm flipH="1">
            <a:off x="4160520" y="3017520"/>
            <a:ext cx="1874520" cy="914"/>
          </a:xfrm>
          <a:prstGeom prst="line">
            <a:avLst/>
          </a:prstGeom>
          <a:noFill/>
          <a:ln w="22225">
            <a:solidFill>
              <a:srgbClr val="D71E28"/>
            </a:solidFill>
            <a:prstDash val="solid"/>
            <a:tailEnd type="none"/>
          </a:ln>
        </p:spPr>
      </p:sp>
      <p:sp>
        <p:nvSpPr>
          <p:cNvPr id="43" name="Shape 34"/>
          <p:cNvSpPr/>
          <p:nvPr/>
        </p:nvSpPr>
        <p:spPr>
          <a:xfrm>
            <a:off x="4160520" y="3017520"/>
            <a:ext cx="914" cy="137160"/>
          </a:xfrm>
          <a:prstGeom prst="line">
            <a:avLst/>
          </a:prstGeom>
          <a:noFill/>
          <a:ln w="22225">
            <a:solidFill>
              <a:srgbClr val="D71E28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6035040" y="2926080"/>
            <a:ext cx="914" cy="91440"/>
          </a:xfrm>
          <a:prstGeom prst="line">
            <a:avLst/>
          </a:prstGeom>
          <a:noFill/>
          <a:ln w="22225">
            <a:solidFill>
              <a:srgbClr val="D71E28"/>
            </a:solidFill>
            <a:prstDash val="solid"/>
            <a:tailEnd type="none"/>
          </a:ln>
        </p:spPr>
      </p:sp>
      <p:sp>
        <p:nvSpPr>
          <p:cNvPr id="45" name="Shape 36"/>
          <p:cNvSpPr/>
          <p:nvPr/>
        </p:nvSpPr>
        <p:spPr>
          <a:xfrm>
            <a:off x="6035040" y="3017520"/>
            <a:ext cx="914" cy="914"/>
          </a:xfrm>
          <a:prstGeom prst="line">
            <a:avLst/>
          </a:prstGeom>
          <a:noFill/>
          <a:ln w="22225">
            <a:solidFill>
              <a:srgbClr val="D71E28"/>
            </a:solidFill>
            <a:prstDash val="solid"/>
            <a:tailEnd type="none"/>
          </a:ln>
        </p:spPr>
      </p:sp>
      <p:sp>
        <p:nvSpPr>
          <p:cNvPr id="46" name="Shape 37"/>
          <p:cNvSpPr/>
          <p:nvPr/>
        </p:nvSpPr>
        <p:spPr>
          <a:xfrm>
            <a:off x="6035040" y="3017520"/>
            <a:ext cx="914" cy="137160"/>
          </a:xfrm>
          <a:prstGeom prst="line">
            <a:avLst/>
          </a:prstGeom>
          <a:noFill/>
          <a:ln w="22225">
            <a:solidFill>
              <a:srgbClr val="D71E28"/>
            </a:solidFill>
            <a:prstDash val="solid"/>
            <a:tailEnd type="triangle"/>
          </a:ln>
        </p:spPr>
      </p:sp>
      <p:sp>
        <p:nvSpPr>
          <p:cNvPr id="47" name="Shape 38"/>
          <p:cNvSpPr/>
          <p:nvPr/>
        </p:nvSpPr>
        <p:spPr>
          <a:xfrm>
            <a:off x="6035040" y="2926080"/>
            <a:ext cx="914" cy="91440"/>
          </a:xfrm>
          <a:prstGeom prst="line">
            <a:avLst/>
          </a:prstGeom>
          <a:noFill/>
          <a:ln w="22225">
            <a:solidFill>
              <a:srgbClr val="D71E28"/>
            </a:solidFill>
            <a:prstDash val="solid"/>
            <a:tailEnd type="none"/>
          </a:ln>
        </p:spPr>
      </p:sp>
      <p:sp>
        <p:nvSpPr>
          <p:cNvPr id="48" name="Shape 39"/>
          <p:cNvSpPr/>
          <p:nvPr/>
        </p:nvSpPr>
        <p:spPr>
          <a:xfrm>
            <a:off x="6035040" y="3017520"/>
            <a:ext cx="1874520" cy="914"/>
          </a:xfrm>
          <a:prstGeom prst="line">
            <a:avLst/>
          </a:prstGeom>
          <a:noFill/>
          <a:ln w="22225">
            <a:solidFill>
              <a:srgbClr val="D71E28"/>
            </a:solidFill>
            <a:prstDash val="solid"/>
            <a:tailEnd type="none"/>
          </a:ln>
        </p:spPr>
      </p:sp>
      <p:sp>
        <p:nvSpPr>
          <p:cNvPr id="49" name="Shape 40"/>
          <p:cNvSpPr/>
          <p:nvPr/>
        </p:nvSpPr>
        <p:spPr>
          <a:xfrm>
            <a:off x="7909560" y="3017520"/>
            <a:ext cx="914" cy="137160"/>
          </a:xfrm>
          <a:prstGeom prst="line">
            <a:avLst/>
          </a:prstGeom>
          <a:noFill/>
          <a:ln w="22225">
            <a:solidFill>
              <a:srgbClr val="D71E28"/>
            </a:solidFill>
            <a:prstDash val="solid"/>
            <a:tailEnd type="triangle"/>
          </a:ln>
        </p:spPr>
      </p:sp>
      <p:sp>
        <p:nvSpPr>
          <p:cNvPr id="50" name="Shape 41"/>
          <p:cNvSpPr/>
          <p:nvPr/>
        </p:nvSpPr>
        <p:spPr>
          <a:xfrm>
            <a:off x="1645920" y="4389120"/>
            <a:ext cx="914" cy="777240"/>
          </a:xfrm>
          <a:prstGeom prst="line">
            <a:avLst/>
          </a:prstGeom>
          <a:noFill/>
          <a:ln w="22225">
            <a:solidFill>
              <a:srgbClr val="FFCD41"/>
            </a:solidFill>
            <a:prstDash val="solid"/>
            <a:tailEnd type="none"/>
          </a:ln>
        </p:spPr>
      </p:sp>
      <p:sp>
        <p:nvSpPr>
          <p:cNvPr id="51" name="Shape 42"/>
          <p:cNvSpPr/>
          <p:nvPr/>
        </p:nvSpPr>
        <p:spPr>
          <a:xfrm>
            <a:off x="1645920" y="5166360"/>
            <a:ext cx="3611880" cy="914"/>
          </a:xfrm>
          <a:prstGeom prst="line">
            <a:avLst/>
          </a:prstGeom>
          <a:noFill/>
          <a:ln w="22225">
            <a:solidFill>
              <a:srgbClr val="FFCD41"/>
            </a:solidFill>
            <a:prstDash val="solid"/>
            <a:tailEnd type="triangle"/>
          </a:ln>
        </p:spPr>
      </p:sp>
      <p:sp>
        <p:nvSpPr>
          <p:cNvPr id="52" name="Shape 43"/>
          <p:cNvSpPr/>
          <p:nvPr/>
        </p:nvSpPr>
        <p:spPr>
          <a:xfrm>
            <a:off x="4160520" y="4389120"/>
            <a:ext cx="914" cy="164592"/>
          </a:xfrm>
          <a:prstGeom prst="line">
            <a:avLst/>
          </a:prstGeom>
          <a:noFill/>
          <a:ln w="15875">
            <a:solidFill>
              <a:srgbClr val="595959"/>
            </a:solidFill>
            <a:prstDash val="dash"/>
            <a:tailEnd type="none"/>
          </a:ln>
        </p:spPr>
      </p:sp>
      <p:sp>
        <p:nvSpPr>
          <p:cNvPr id="53" name="Shape 44"/>
          <p:cNvSpPr/>
          <p:nvPr/>
        </p:nvSpPr>
        <p:spPr>
          <a:xfrm>
            <a:off x="4160520" y="4553712"/>
            <a:ext cx="2011680" cy="914"/>
          </a:xfrm>
          <a:prstGeom prst="line">
            <a:avLst/>
          </a:prstGeom>
          <a:noFill/>
          <a:ln w="15875">
            <a:solidFill>
              <a:srgbClr val="595959"/>
            </a:solidFill>
            <a:prstDash val="dash"/>
            <a:tailEnd type="none"/>
          </a:ln>
        </p:spPr>
      </p:sp>
      <p:sp>
        <p:nvSpPr>
          <p:cNvPr id="54" name="Shape 45"/>
          <p:cNvSpPr/>
          <p:nvPr/>
        </p:nvSpPr>
        <p:spPr>
          <a:xfrm>
            <a:off x="6172200" y="4553712"/>
            <a:ext cx="914" cy="155448"/>
          </a:xfrm>
          <a:prstGeom prst="line">
            <a:avLst/>
          </a:prstGeom>
          <a:noFill/>
          <a:ln w="15875">
            <a:solidFill>
              <a:srgbClr val="595959"/>
            </a:solidFill>
            <a:prstDash val="dash"/>
            <a:tailEnd type="triangle"/>
          </a:ln>
        </p:spPr>
      </p:sp>
      <p:sp>
        <p:nvSpPr>
          <p:cNvPr id="55" name="Shape 46"/>
          <p:cNvSpPr/>
          <p:nvPr/>
        </p:nvSpPr>
        <p:spPr>
          <a:xfrm>
            <a:off x="6035040" y="4389120"/>
            <a:ext cx="914" cy="164592"/>
          </a:xfrm>
          <a:prstGeom prst="line">
            <a:avLst/>
          </a:prstGeom>
          <a:noFill/>
          <a:ln w="15875">
            <a:solidFill>
              <a:srgbClr val="595959"/>
            </a:solidFill>
            <a:prstDash val="dash"/>
            <a:tailEnd type="none"/>
          </a:ln>
        </p:spPr>
      </p:sp>
      <p:sp>
        <p:nvSpPr>
          <p:cNvPr id="56" name="Shape 47"/>
          <p:cNvSpPr/>
          <p:nvPr/>
        </p:nvSpPr>
        <p:spPr>
          <a:xfrm>
            <a:off x="6035040" y="4553712"/>
            <a:ext cx="137160" cy="914"/>
          </a:xfrm>
          <a:prstGeom prst="line">
            <a:avLst/>
          </a:prstGeom>
          <a:noFill/>
          <a:ln w="15875">
            <a:solidFill>
              <a:srgbClr val="595959"/>
            </a:solidFill>
            <a:prstDash val="dash"/>
            <a:tailEnd type="none"/>
          </a:ln>
        </p:spPr>
      </p:sp>
      <p:sp>
        <p:nvSpPr>
          <p:cNvPr id="57" name="Shape 48"/>
          <p:cNvSpPr/>
          <p:nvPr/>
        </p:nvSpPr>
        <p:spPr>
          <a:xfrm>
            <a:off x="6172200" y="4553712"/>
            <a:ext cx="914" cy="155448"/>
          </a:xfrm>
          <a:prstGeom prst="line">
            <a:avLst/>
          </a:prstGeom>
          <a:noFill/>
          <a:ln w="15875">
            <a:solidFill>
              <a:srgbClr val="595959"/>
            </a:solidFill>
            <a:prstDash val="dash"/>
            <a:tailEnd type="triangle"/>
          </a:ln>
        </p:spPr>
      </p:sp>
      <p:sp>
        <p:nvSpPr>
          <p:cNvPr id="58" name="Shape 49"/>
          <p:cNvSpPr/>
          <p:nvPr/>
        </p:nvSpPr>
        <p:spPr>
          <a:xfrm>
            <a:off x="7909560" y="4389120"/>
            <a:ext cx="914" cy="164592"/>
          </a:xfrm>
          <a:prstGeom prst="line">
            <a:avLst/>
          </a:prstGeom>
          <a:noFill/>
          <a:ln w="15875">
            <a:solidFill>
              <a:srgbClr val="595959"/>
            </a:solidFill>
            <a:prstDash val="dash"/>
            <a:tailEnd type="none"/>
          </a:ln>
        </p:spPr>
      </p:sp>
      <p:sp>
        <p:nvSpPr>
          <p:cNvPr id="59" name="Shape 50"/>
          <p:cNvSpPr/>
          <p:nvPr/>
        </p:nvSpPr>
        <p:spPr>
          <a:xfrm flipH="1">
            <a:off x="6172200" y="4553712"/>
            <a:ext cx="1737360" cy="914"/>
          </a:xfrm>
          <a:prstGeom prst="line">
            <a:avLst/>
          </a:prstGeom>
          <a:noFill/>
          <a:ln w="15875">
            <a:solidFill>
              <a:srgbClr val="595959"/>
            </a:solidFill>
            <a:prstDash val="dash"/>
            <a:tailEnd type="none"/>
          </a:ln>
        </p:spPr>
      </p:sp>
      <p:sp>
        <p:nvSpPr>
          <p:cNvPr id="60" name="Shape 51"/>
          <p:cNvSpPr/>
          <p:nvPr/>
        </p:nvSpPr>
        <p:spPr>
          <a:xfrm>
            <a:off x="6172200" y="4553712"/>
            <a:ext cx="914" cy="155448"/>
          </a:xfrm>
          <a:prstGeom prst="line">
            <a:avLst/>
          </a:prstGeom>
          <a:noFill/>
          <a:ln w="15875">
            <a:solidFill>
              <a:srgbClr val="595959"/>
            </a:solidFill>
            <a:prstDash val="dash"/>
            <a:tailEnd type="triangle"/>
          </a:ln>
        </p:spPr>
      </p:sp>
      <p:sp>
        <p:nvSpPr>
          <p:cNvPr id="62" name="Text 5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Server Load Balancer with Shared NFS</a:t>
            </a:r>
            <a:r>
              <a:rPr lang="en-IN" alt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Storage</a:t>
            </a:r>
            <a:endParaRPr lang="en-US" sz="900" dirty="0"/>
          </a:p>
        </p:txBody>
      </p:sp>
      <p:sp>
        <p:nvSpPr>
          <p:cNvPr id="63" name="Text 54"/>
          <p:cNvSpPr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80" name="Shape 10"/>
          <p:cNvSpPr/>
          <p:nvPr/>
        </p:nvSpPr>
        <p:spPr>
          <a:xfrm>
            <a:off x="9261475" y="3154680"/>
            <a:ext cx="2377440" cy="2179955"/>
          </a:xfrm>
          <a:prstGeom prst="roundRect">
            <a:avLst>
              <a:gd name="adj" fmla="val 8235"/>
            </a:avLst>
          </a:prstGeom>
          <a:solidFill>
            <a:srgbClr val="EFEFEF"/>
          </a:solidFill>
          <a:ln w="12700">
            <a:solidFill>
              <a:srgbClr val="F2F2F2"/>
            </a:solidFill>
            <a:prstDash val="solid"/>
          </a:ln>
        </p:spPr>
        <p:txBody>
          <a:bodyPr/>
          <a:p>
            <a:r>
              <a:rPr lang="en-IN" altLang="en-US" b="1"/>
              <a:t>Components</a:t>
            </a:r>
            <a:endParaRPr lang="en-IN" altLang="en-US"/>
          </a:p>
        </p:txBody>
      </p:sp>
      <p:sp>
        <p:nvSpPr>
          <p:cNvPr id="81" name="Text 8"/>
          <p:cNvSpPr/>
          <p:nvPr/>
        </p:nvSpPr>
        <p:spPr>
          <a:xfrm>
            <a:off x="9416288" y="3572637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GLB (HAProxy)</a:t>
            </a:r>
            <a:endParaRPr lang="en-US" sz="9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2" name="Text 9"/>
          <p:cNvSpPr/>
          <p:nvPr/>
        </p:nvSpPr>
        <p:spPr>
          <a:xfrm>
            <a:off x="9416288" y="3703701"/>
            <a:ext cx="4480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Round-robin load balancing</a:t>
            </a:r>
            <a:endParaRPr lang="en-US" sz="8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3" name="Text 12"/>
          <p:cNvSpPr/>
          <p:nvPr/>
        </p:nvSpPr>
        <p:spPr>
          <a:xfrm>
            <a:off x="9414383" y="4655820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</a:t>
            </a:r>
            <a:r>
              <a:rPr lang="en-IN" altLang="en-US" sz="9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/SCP</a:t>
            </a:r>
            <a:endParaRPr lang="en-IN" altLang="en-US" sz="9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4" name="Text 13"/>
          <p:cNvSpPr/>
          <p:nvPr/>
        </p:nvSpPr>
        <p:spPr>
          <a:xfrm>
            <a:off x="9414383" y="4773549"/>
            <a:ext cx="4480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website content</a:t>
            </a:r>
            <a:endParaRPr lang="en-US" sz="8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5" name="Text 16"/>
          <p:cNvSpPr/>
          <p:nvPr/>
        </p:nvSpPr>
        <p:spPr>
          <a:xfrm>
            <a:off x="9414383" y="4312920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NFS</a:t>
            </a:r>
            <a:r>
              <a:rPr lang="en-IN" altLang="en-US" sz="9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9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Server</a:t>
            </a:r>
            <a:endParaRPr lang="en-US" sz="9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6" name="Text 17"/>
          <p:cNvSpPr/>
          <p:nvPr/>
        </p:nvSpPr>
        <p:spPr>
          <a:xfrm>
            <a:off x="9414383" y="4436364"/>
            <a:ext cx="4480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storage across all web nodes</a:t>
            </a:r>
            <a:endParaRPr lang="en-US" sz="8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7" name="Text 4"/>
          <p:cNvSpPr/>
          <p:nvPr/>
        </p:nvSpPr>
        <p:spPr>
          <a:xfrm>
            <a:off x="9416415" y="3841115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Apache-1 / 2 / 3</a:t>
            </a:r>
            <a:endParaRPr lang="en-US" sz="9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8" name="Text 5"/>
          <p:cNvSpPr/>
          <p:nvPr/>
        </p:nvSpPr>
        <p:spPr>
          <a:xfrm>
            <a:off x="9401175" y="4021455"/>
            <a:ext cx="448056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 website content</a:t>
            </a:r>
            <a:endParaRPr lang="en-US" sz="8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26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Upload Flow</a:t>
            </a:r>
            <a:endParaRPr lang="en-IN" altLang="en-US" sz="2600" b="1" dirty="0">
              <a:solidFill>
                <a:srgbClr val="000000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052560" y="329184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CD41"/>
          </a:solidFill>
        </p:spPr>
      </p:sp>
      <p:sp>
        <p:nvSpPr>
          <p:cNvPr id="4" name="Text 2"/>
          <p:cNvSpPr/>
          <p:nvPr/>
        </p:nvSpPr>
        <p:spPr>
          <a:xfrm>
            <a:off x="9052560" y="329184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 OF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71E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 — Content Upload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Website files are uploaded via </a:t>
            </a:r>
            <a:r>
              <a:rPr lang="en-IN" alt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SCP/</a:t>
            </a:r>
            <a:r>
              <a:rPr 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 (192.168.1.194) directly onto the shared NFS</a:t>
            </a:r>
            <a:r>
              <a:rPr lang="en-IN" alt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IN" alt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</a:t>
            </a:r>
            <a:r>
              <a:rPr 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8" name="Image 0" descr="/home/claude/build/icons/desktop_AEB8C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048256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5054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27980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008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FCD41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12" name="Image 1" descr="/home/claude/build/icons/upload_0B1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4288536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SCP/</a:t>
            </a: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85800" y="503834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 Upload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074920" y="19202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16" name="Image 2" descr="/home/claude/build/icons/network_AEB8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2048256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25054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HAProxy GLB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120640" y="27980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192.168.1.195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29184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0" name="Image 3" descr="/home/claude/build/icons/server_AEB8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624" y="4288536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33756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Apache-1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07492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3" name="Image 4" descr="/home/claude/build/icons/server_AEB8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4288536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2064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Apache-2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85800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6" name="Image 5" descr="/home/claude/build/icons/server_AEB8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4288536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Apache-3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9052560" y="41605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D71E28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9" name="Image 6" descr="/home/claude/build/icons/database_0B14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4" y="4288536"/>
            <a:ext cx="438912" cy="43891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098280" y="474573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NFS</a:t>
            </a:r>
            <a:r>
              <a:rPr lang="en-IN" alt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Server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9098280" y="5038344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/nfs/shared</a:t>
            </a:r>
            <a:endParaRPr lang="en-US" sz="850" dirty="0"/>
          </a:p>
        </p:txBody>
      </p:sp>
      <p:sp>
        <p:nvSpPr>
          <p:cNvPr id="32" name="Shape 23"/>
          <p:cNvSpPr/>
          <p:nvPr/>
        </p:nvSpPr>
        <p:spPr>
          <a:xfrm>
            <a:off x="1197610" y="5394960"/>
            <a:ext cx="635" cy="394335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33" name="Shape 24"/>
          <p:cNvSpPr/>
          <p:nvPr/>
        </p:nvSpPr>
        <p:spPr>
          <a:xfrm>
            <a:off x="1210310" y="5769610"/>
            <a:ext cx="8815705" cy="635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34" name="Shape 25"/>
          <p:cNvSpPr/>
          <p:nvPr/>
        </p:nvSpPr>
        <p:spPr>
          <a:xfrm flipH="1" flipV="1">
            <a:off x="10003790" y="5394960"/>
            <a:ext cx="9525" cy="389890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triangle"/>
          </a:ln>
        </p:spPr>
      </p:sp>
      <p:sp>
        <p:nvSpPr>
          <p:cNvPr id="35" name="Shape 26"/>
          <p:cNvSpPr/>
          <p:nvPr/>
        </p:nvSpPr>
        <p:spPr>
          <a:xfrm>
            <a:off x="10012680" y="470916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36" name="Shape 27"/>
          <p:cNvSpPr/>
          <p:nvPr/>
        </p:nvSpPr>
        <p:spPr>
          <a:xfrm flipH="1">
            <a:off x="3794760" y="5640705"/>
            <a:ext cx="594360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37" name="Shape 28"/>
          <p:cNvSpPr/>
          <p:nvPr/>
        </p:nvSpPr>
        <p:spPr>
          <a:xfrm flipV="1">
            <a:off x="3800475" y="5360670"/>
            <a:ext cx="914" cy="27432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38" name="Shape 29"/>
          <p:cNvSpPr/>
          <p:nvPr/>
        </p:nvSpPr>
        <p:spPr>
          <a:xfrm>
            <a:off x="10012680" y="470916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40" name="Shape 31"/>
          <p:cNvSpPr/>
          <p:nvPr/>
        </p:nvSpPr>
        <p:spPr>
          <a:xfrm flipV="1">
            <a:off x="5852160" y="5354955"/>
            <a:ext cx="914" cy="27432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9749790" y="550926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43" name="Shape 34"/>
          <p:cNvSpPr/>
          <p:nvPr/>
        </p:nvSpPr>
        <p:spPr>
          <a:xfrm flipV="1">
            <a:off x="7635240" y="5354955"/>
            <a:ext cx="914" cy="27432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2194560" y="2532888"/>
            <a:ext cx="288036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46" name="Shape 37"/>
          <p:cNvSpPr/>
          <p:nvPr/>
        </p:nvSpPr>
        <p:spPr>
          <a:xfrm flipH="1">
            <a:off x="4069080" y="3291840"/>
            <a:ext cx="178308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47" name="Shape 38"/>
          <p:cNvSpPr/>
          <p:nvPr/>
        </p:nvSpPr>
        <p:spPr>
          <a:xfrm>
            <a:off x="4069080" y="3291840"/>
            <a:ext cx="914" cy="86868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48" name="Shape 39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49" name="Shape 40"/>
          <p:cNvSpPr/>
          <p:nvPr/>
        </p:nvSpPr>
        <p:spPr>
          <a:xfrm flipH="1">
            <a:off x="5852160" y="3291840"/>
            <a:ext cx="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50" name="Shape 41"/>
          <p:cNvSpPr/>
          <p:nvPr/>
        </p:nvSpPr>
        <p:spPr>
          <a:xfrm>
            <a:off x="5852160" y="3291840"/>
            <a:ext cx="914" cy="86868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51" name="Shape 42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52" name="Shape 43"/>
          <p:cNvSpPr/>
          <p:nvPr/>
        </p:nvSpPr>
        <p:spPr>
          <a:xfrm>
            <a:off x="5852160" y="3291840"/>
            <a:ext cx="178308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53" name="Shape 44"/>
          <p:cNvSpPr/>
          <p:nvPr/>
        </p:nvSpPr>
        <p:spPr>
          <a:xfrm>
            <a:off x="7635240" y="3291840"/>
            <a:ext cx="914" cy="86868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54" name="Shape 45"/>
          <p:cNvSpPr/>
          <p:nvPr/>
        </p:nvSpPr>
        <p:spPr>
          <a:xfrm>
            <a:off x="1051560" y="3977640"/>
            <a:ext cx="310896" cy="310896"/>
          </a:xfrm>
          <a:prstGeom prst="ellipse">
            <a:avLst/>
          </a:prstGeom>
          <a:solidFill>
            <a:srgbClr val="FFCD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1051560" y="39684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56" name="Shape 47"/>
          <p:cNvSpPr/>
          <p:nvPr/>
        </p:nvSpPr>
        <p:spPr>
          <a:xfrm>
            <a:off x="9692640" y="3977640"/>
            <a:ext cx="310896" cy="310896"/>
          </a:xfrm>
          <a:prstGeom prst="ellipse">
            <a:avLst/>
          </a:prstGeom>
          <a:solidFill>
            <a:srgbClr val="D9D9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9692640" y="39684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58" name="Shape 49"/>
          <p:cNvSpPr/>
          <p:nvPr/>
        </p:nvSpPr>
        <p:spPr>
          <a:xfrm>
            <a:off x="1828800" y="1737360"/>
            <a:ext cx="310896" cy="310896"/>
          </a:xfrm>
          <a:prstGeom prst="ellipse">
            <a:avLst/>
          </a:prstGeom>
          <a:solidFill>
            <a:srgbClr val="D9D9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1828800" y="17282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60" name="Text 5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Server Load Balancer with Shared NFS</a:t>
            </a:r>
            <a:r>
              <a:rPr lang="en-IN" alt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Storage</a:t>
            </a:r>
            <a:endParaRPr lang="en-US" sz="900" dirty="0"/>
          </a:p>
        </p:txBody>
      </p:sp>
      <p:sp>
        <p:nvSpPr>
          <p:cNvPr id="61" name="Text 52"/>
          <p:cNvSpPr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26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Shared to WebSevers </a:t>
            </a:r>
            <a:endParaRPr lang="en-IN" altLang="en-US" sz="2600" b="1" dirty="0">
              <a:solidFill>
                <a:srgbClr val="000000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052560" y="329184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CD41"/>
          </a:solidFill>
        </p:spPr>
      </p:sp>
      <p:sp>
        <p:nvSpPr>
          <p:cNvPr id="4" name="Text 2"/>
          <p:cNvSpPr/>
          <p:nvPr/>
        </p:nvSpPr>
        <p:spPr>
          <a:xfrm>
            <a:off x="9052560" y="329184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 OF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71E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 — Shared Distribution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three Apache nodes mount the same NFS</a:t>
            </a:r>
            <a:r>
              <a:rPr lang="en-IN" alt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path (192.168.1.130:/nfs/shared) — every server serves identical content instantly.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8" name="Image 0" descr="/home/claude/build/icons/desktop_AEB8C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048256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5054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27980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008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12" name="Image 1" descr="/home/claude/build/icons/upload_AEB8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4288536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85800" y="503834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 Upload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074920" y="19202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16" name="Image 2" descr="/home/claude/build/icons/network_AEB8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2048256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25054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HAProxy GLB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120640" y="27980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192.168.1.195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29184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FCD41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0" name="Image 3" descr="/home/claude/build/icons/server_0B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624" y="4288536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33756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Apache-1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07492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FCD41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3" name="Image 4" descr="/home/claude/build/icons/server_0B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4288536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2064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Apache-2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85800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FCD41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6" name="Image 5" descr="/home/claude/build/icons/server_0B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4288536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Apache-3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9052560" y="41605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D71E28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9" name="Image 6" descr="/home/claude/build/icons/database_0B14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4" y="4288536"/>
            <a:ext cx="438912" cy="43891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098280" y="474573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NFS Server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9098280" y="5038344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/nfs/shared</a:t>
            </a:r>
            <a:endParaRPr lang="en-US" sz="850" dirty="0"/>
          </a:p>
        </p:txBody>
      </p:sp>
      <p:sp>
        <p:nvSpPr>
          <p:cNvPr id="32" name="Shape 23"/>
          <p:cNvSpPr/>
          <p:nvPr/>
        </p:nvSpPr>
        <p:spPr>
          <a:xfrm>
            <a:off x="1402080" y="5574030"/>
            <a:ext cx="635" cy="54864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33" name="Shape 24"/>
          <p:cNvSpPr/>
          <p:nvPr/>
        </p:nvSpPr>
        <p:spPr>
          <a:xfrm flipV="1">
            <a:off x="1392555" y="6109970"/>
            <a:ext cx="8730615" cy="1651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34" name="Shape 25"/>
          <p:cNvSpPr/>
          <p:nvPr/>
        </p:nvSpPr>
        <p:spPr>
          <a:xfrm flipV="1">
            <a:off x="10114915" y="5414010"/>
            <a:ext cx="8255" cy="68961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36" name="Shape 27"/>
          <p:cNvSpPr/>
          <p:nvPr/>
        </p:nvSpPr>
        <p:spPr>
          <a:xfrm flipH="1">
            <a:off x="4069080" y="5969000"/>
            <a:ext cx="5943600" cy="914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37" name="Shape 28"/>
          <p:cNvSpPr/>
          <p:nvPr/>
        </p:nvSpPr>
        <p:spPr>
          <a:xfrm flipH="1" flipV="1">
            <a:off x="4069715" y="5431790"/>
            <a:ext cx="14605" cy="547370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triangle"/>
          </a:ln>
        </p:spPr>
      </p:sp>
      <p:sp>
        <p:nvSpPr>
          <p:cNvPr id="39" name="Shape 30"/>
          <p:cNvSpPr/>
          <p:nvPr/>
        </p:nvSpPr>
        <p:spPr>
          <a:xfrm flipH="1">
            <a:off x="5852160" y="5969000"/>
            <a:ext cx="4160520" cy="914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40" name="Shape 31"/>
          <p:cNvSpPr/>
          <p:nvPr/>
        </p:nvSpPr>
        <p:spPr>
          <a:xfrm flipV="1">
            <a:off x="5852160" y="5417820"/>
            <a:ext cx="635" cy="548640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10003790" y="5440680"/>
            <a:ext cx="9525" cy="544830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42" name="Shape 33"/>
          <p:cNvSpPr/>
          <p:nvPr/>
        </p:nvSpPr>
        <p:spPr>
          <a:xfrm flipH="1">
            <a:off x="7635875" y="5969635"/>
            <a:ext cx="2377440" cy="914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43" name="Shape 34"/>
          <p:cNvSpPr/>
          <p:nvPr/>
        </p:nvSpPr>
        <p:spPr>
          <a:xfrm flipV="1">
            <a:off x="7635240" y="5436235"/>
            <a:ext cx="635" cy="522605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2194560" y="2532888"/>
            <a:ext cx="288036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46" name="Shape 37"/>
          <p:cNvSpPr/>
          <p:nvPr/>
        </p:nvSpPr>
        <p:spPr>
          <a:xfrm flipH="1">
            <a:off x="4069080" y="3291840"/>
            <a:ext cx="178308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47" name="Shape 38"/>
          <p:cNvSpPr/>
          <p:nvPr/>
        </p:nvSpPr>
        <p:spPr>
          <a:xfrm>
            <a:off x="4069080" y="3291840"/>
            <a:ext cx="914" cy="86868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48" name="Shape 39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49" name="Shape 40"/>
          <p:cNvSpPr/>
          <p:nvPr/>
        </p:nvSpPr>
        <p:spPr>
          <a:xfrm flipH="1">
            <a:off x="5852160" y="3291840"/>
            <a:ext cx="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50" name="Shape 41"/>
          <p:cNvSpPr/>
          <p:nvPr/>
        </p:nvSpPr>
        <p:spPr>
          <a:xfrm>
            <a:off x="5852160" y="3291840"/>
            <a:ext cx="914" cy="86868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51" name="Shape 42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52" name="Shape 43"/>
          <p:cNvSpPr/>
          <p:nvPr/>
        </p:nvSpPr>
        <p:spPr>
          <a:xfrm>
            <a:off x="5852160" y="3291840"/>
            <a:ext cx="178308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53" name="Shape 44"/>
          <p:cNvSpPr/>
          <p:nvPr/>
        </p:nvSpPr>
        <p:spPr>
          <a:xfrm>
            <a:off x="7635240" y="3291840"/>
            <a:ext cx="914" cy="86868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54" name="Shape 45"/>
          <p:cNvSpPr/>
          <p:nvPr/>
        </p:nvSpPr>
        <p:spPr>
          <a:xfrm>
            <a:off x="1051560" y="3977640"/>
            <a:ext cx="310896" cy="310896"/>
          </a:xfrm>
          <a:prstGeom prst="ellipse">
            <a:avLst/>
          </a:prstGeom>
          <a:solidFill>
            <a:srgbClr val="D9D9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1051560" y="39684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56" name="Shape 47"/>
          <p:cNvSpPr/>
          <p:nvPr/>
        </p:nvSpPr>
        <p:spPr>
          <a:xfrm>
            <a:off x="9692640" y="3977640"/>
            <a:ext cx="310896" cy="310896"/>
          </a:xfrm>
          <a:prstGeom prst="ellipse">
            <a:avLst/>
          </a:prstGeom>
          <a:solidFill>
            <a:srgbClr val="FFCD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9692640" y="39684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58" name="Shape 49"/>
          <p:cNvSpPr/>
          <p:nvPr/>
        </p:nvSpPr>
        <p:spPr>
          <a:xfrm>
            <a:off x="1828800" y="1737360"/>
            <a:ext cx="310896" cy="310896"/>
          </a:xfrm>
          <a:prstGeom prst="ellipse">
            <a:avLst/>
          </a:prstGeom>
          <a:solidFill>
            <a:srgbClr val="D9D9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1828800" y="17282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60" name="Text 5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Server Load Balancer with Shared NFS</a:t>
            </a:r>
            <a:r>
              <a:rPr lang="en-IN" alt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Storage</a:t>
            </a:r>
            <a:endParaRPr lang="en-US" sz="900" dirty="0"/>
          </a:p>
        </p:txBody>
      </p:sp>
      <p:sp>
        <p:nvSpPr>
          <p:cNvPr id="61" name="Text 52"/>
          <p:cNvSpPr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26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Download or Access Flow 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052560" y="329184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CD41"/>
          </a:solidFill>
        </p:spPr>
      </p:sp>
      <p:sp>
        <p:nvSpPr>
          <p:cNvPr id="4" name="Text 2"/>
          <p:cNvSpPr/>
          <p:nvPr/>
        </p:nvSpPr>
        <p:spPr>
          <a:xfrm>
            <a:off x="9052560" y="329184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 OF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71E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 — Load-Balanced Serving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Clients browse to http://192.168.1.195; HAProxy round-robins each request across Apache-1/2/3.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FCD41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8" name="Image 0" descr="/home/claude/build/icons/desktop_0B144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048256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5054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27980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008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12" name="Image 1" descr="/home/claude/build/icons/upload_AEB8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4288536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85800" y="503834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 Upload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074920" y="19202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FCD41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16" name="Image 2" descr="/home/claude/build/icons/network_0B1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2048256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25054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HAProxy GLB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120640" y="27980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192.168.1.195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29184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FCD41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0" name="Image 3" descr="/home/claude/build/icons/server_0B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624" y="4288536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33756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Apache-1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07492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FCD41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3" name="Image 4" descr="/home/claude/build/icons/server_0B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4288536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2064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Apache-2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85800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FCD41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6" name="Image 5" descr="/home/claude/build/icons/server_0B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4288536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Apache-3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9052560" y="41605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D71E28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9" name="Image 6" descr="/home/claude/build/icons/database_0B14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4" y="4288536"/>
            <a:ext cx="438912" cy="43891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098280" y="474573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NFS</a:t>
            </a:r>
            <a:r>
              <a:rPr lang="en-IN" alt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Server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9098280" y="5038344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/nfs/shared</a:t>
            </a:r>
            <a:endParaRPr lang="en-US" sz="850" dirty="0"/>
          </a:p>
        </p:txBody>
      </p:sp>
      <p:sp>
        <p:nvSpPr>
          <p:cNvPr id="32" name="Shape 23"/>
          <p:cNvSpPr/>
          <p:nvPr/>
        </p:nvSpPr>
        <p:spPr>
          <a:xfrm>
            <a:off x="1417320" y="5444490"/>
            <a:ext cx="635" cy="48768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33" name="Shape 24"/>
          <p:cNvSpPr/>
          <p:nvPr/>
        </p:nvSpPr>
        <p:spPr>
          <a:xfrm flipV="1">
            <a:off x="1417955" y="5903595"/>
            <a:ext cx="8803005" cy="20955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34" name="Shape 25"/>
          <p:cNvSpPr/>
          <p:nvPr/>
        </p:nvSpPr>
        <p:spPr>
          <a:xfrm flipH="1" flipV="1">
            <a:off x="10201910" y="5426075"/>
            <a:ext cx="8255" cy="49784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35" name="Shape 26"/>
          <p:cNvSpPr/>
          <p:nvPr/>
        </p:nvSpPr>
        <p:spPr>
          <a:xfrm>
            <a:off x="10012680" y="470916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36" name="Shape 27"/>
          <p:cNvSpPr/>
          <p:nvPr/>
        </p:nvSpPr>
        <p:spPr>
          <a:xfrm flipH="1">
            <a:off x="3903980" y="5718810"/>
            <a:ext cx="594360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37" name="Shape 28"/>
          <p:cNvSpPr/>
          <p:nvPr/>
        </p:nvSpPr>
        <p:spPr>
          <a:xfrm flipV="1">
            <a:off x="3916680" y="5441950"/>
            <a:ext cx="914" cy="27432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38" name="Shape 29"/>
          <p:cNvSpPr/>
          <p:nvPr/>
        </p:nvSpPr>
        <p:spPr>
          <a:xfrm>
            <a:off x="10012680" y="470916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39" name="Shape 30"/>
          <p:cNvSpPr/>
          <p:nvPr/>
        </p:nvSpPr>
        <p:spPr>
          <a:xfrm flipH="1">
            <a:off x="5687060" y="5718810"/>
            <a:ext cx="416052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40" name="Shape 31"/>
          <p:cNvSpPr/>
          <p:nvPr/>
        </p:nvSpPr>
        <p:spPr>
          <a:xfrm flipV="1">
            <a:off x="5852160" y="5454650"/>
            <a:ext cx="914" cy="27432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10012680" y="470916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42" name="Shape 33"/>
          <p:cNvSpPr/>
          <p:nvPr/>
        </p:nvSpPr>
        <p:spPr>
          <a:xfrm flipH="1">
            <a:off x="7527290" y="5718810"/>
            <a:ext cx="237744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43" name="Shape 34"/>
          <p:cNvSpPr/>
          <p:nvPr/>
        </p:nvSpPr>
        <p:spPr>
          <a:xfrm flipV="1">
            <a:off x="7635240" y="5448300"/>
            <a:ext cx="914" cy="27432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2194560" y="2532888"/>
            <a:ext cx="2880360" cy="914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46" name="Shape 37"/>
          <p:cNvSpPr/>
          <p:nvPr/>
        </p:nvSpPr>
        <p:spPr>
          <a:xfrm flipH="1">
            <a:off x="4069080" y="3291840"/>
            <a:ext cx="1783080" cy="914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47" name="Shape 38"/>
          <p:cNvSpPr/>
          <p:nvPr/>
        </p:nvSpPr>
        <p:spPr>
          <a:xfrm>
            <a:off x="4069080" y="3291840"/>
            <a:ext cx="914" cy="868680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triangle"/>
          </a:ln>
        </p:spPr>
      </p:sp>
      <p:sp>
        <p:nvSpPr>
          <p:cNvPr id="48" name="Shape 39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49" name="Shape 40"/>
          <p:cNvSpPr/>
          <p:nvPr/>
        </p:nvSpPr>
        <p:spPr>
          <a:xfrm flipH="1">
            <a:off x="5852160" y="3291840"/>
            <a:ext cx="0" cy="914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50" name="Shape 41"/>
          <p:cNvSpPr/>
          <p:nvPr/>
        </p:nvSpPr>
        <p:spPr>
          <a:xfrm>
            <a:off x="5852160" y="3291840"/>
            <a:ext cx="914" cy="868680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triangle"/>
          </a:ln>
        </p:spPr>
      </p:sp>
      <p:sp>
        <p:nvSpPr>
          <p:cNvPr id="51" name="Shape 42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52" name="Shape 43"/>
          <p:cNvSpPr/>
          <p:nvPr/>
        </p:nvSpPr>
        <p:spPr>
          <a:xfrm>
            <a:off x="5852160" y="3291840"/>
            <a:ext cx="1783080" cy="914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53" name="Shape 44"/>
          <p:cNvSpPr/>
          <p:nvPr/>
        </p:nvSpPr>
        <p:spPr>
          <a:xfrm>
            <a:off x="7635240" y="3291840"/>
            <a:ext cx="914" cy="868680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triangle"/>
          </a:ln>
        </p:spPr>
      </p:sp>
      <p:sp>
        <p:nvSpPr>
          <p:cNvPr id="54" name="Shape 45"/>
          <p:cNvSpPr/>
          <p:nvPr/>
        </p:nvSpPr>
        <p:spPr>
          <a:xfrm>
            <a:off x="1051560" y="3977640"/>
            <a:ext cx="310896" cy="310896"/>
          </a:xfrm>
          <a:prstGeom prst="ellipse">
            <a:avLst/>
          </a:prstGeom>
          <a:solidFill>
            <a:srgbClr val="D9D9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1051560" y="39684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56" name="Shape 47"/>
          <p:cNvSpPr/>
          <p:nvPr/>
        </p:nvSpPr>
        <p:spPr>
          <a:xfrm>
            <a:off x="9692640" y="3977640"/>
            <a:ext cx="310896" cy="310896"/>
          </a:xfrm>
          <a:prstGeom prst="ellipse">
            <a:avLst/>
          </a:prstGeom>
          <a:solidFill>
            <a:srgbClr val="D9D9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9692640" y="39684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58" name="Shape 49"/>
          <p:cNvSpPr/>
          <p:nvPr/>
        </p:nvSpPr>
        <p:spPr>
          <a:xfrm>
            <a:off x="1828800" y="1737360"/>
            <a:ext cx="310896" cy="310896"/>
          </a:xfrm>
          <a:prstGeom prst="ellipse">
            <a:avLst/>
          </a:prstGeom>
          <a:solidFill>
            <a:srgbClr val="FFCD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1828800" y="17282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60" name="Text 5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Server Load Balancer with Shared NFS</a:t>
            </a:r>
            <a:r>
              <a:rPr lang="en-IN" alt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Storage</a:t>
            </a:r>
            <a:endParaRPr lang="en-US" sz="900" dirty="0"/>
          </a:p>
        </p:txBody>
      </p:sp>
      <p:sp>
        <p:nvSpPr>
          <p:cNvPr id="61" name="Text 52"/>
          <p:cNvSpPr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62" name="Shape 34"/>
          <p:cNvSpPr/>
          <p:nvPr/>
        </p:nvSpPr>
        <p:spPr>
          <a:xfrm flipV="1">
            <a:off x="9895840" y="5449570"/>
            <a:ext cx="914" cy="27432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30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Live Screenshots </a:t>
            </a:r>
            <a:endParaRPr lang="en-US" sz="3000" dirty="0"/>
          </a:p>
        </p:txBody>
      </p:sp>
      <p:sp>
        <p:nvSpPr>
          <p:cNvPr id="28" name="Text 22"/>
          <p:cNvSpPr/>
          <p:nvPr/>
        </p:nvSpPr>
        <p:spPr>
          <a:xfrm>
            <a:off x="190500" y="62362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Server Load Balancer with Shared NFS</a:t>
            </a:r>
            <a:r>
              <a:rPr lang="en-IN" alt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Storage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IN" altLang="en-US" sz="900" dirty="0"/>
              <a:t>6</a:t>
            </a:r>
            <a:endParaRPr lang="en-IN" altLang="en-US" sz="9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135" y="1225550"/>
            <a:ext cx="4593590" cy="203771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2"/>
          <a:srcRect r="-397" b="8754"/>
          <a:stretch>
            <a:fillRect/>
          </a:stretch>
        </p:blipFill>
        <p:spPr>
          <a:xfrm>
            <a:off x="5113020" y="1233805"/>
            <a:ext cx="6911340" cy="1985645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020" y="3665220"/>
            <a:ext cx="6820535" cy="272986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17195" y="381698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en-US" sz="1400"/>
          </a:p>
          <a:p>
            <a:endParaRPr lang="en-US" altLang="en-US" sz="1400"/>
          </a:p>
        </p:txBody>
      </p:sp>
      <p:sp>
        <p:nvSpPr>
          <p:cNvPr id="5" name="Shape 14"/>
          <p:cNvSpPr/>
          <p:nvPr/>
        </p:nvSpPr>
        <p:spPr>
          <a:xfrm>
            <a:off x="344805" y="3620135"/>
            <a:ext cx="4001135" cy="2250440"/>
          </a:xfrm>
          <a:prstGeom prst="roundRect">
            <a:avLst>
              <a:gd name="adj" fmla="val 16000"/>
            </a:avLst>
          </a:prstGeom>
          <a:solidFill>
            <a:schemeClr val="bg2"/>
          </a:solidFill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graphicFrame>
        <p:nvGraphicFramePr>
          <p:cNvPr id="7" name="Table 6"/>
          <p:cNvGraphicFramePr/>
          <p:nvPr>
            <p:custDataLst>
              <p:tags r:id="rId4"/>
            </p:custDataLst>
          </p:nvPr>
        </p:nvGraphicFramePr>
        <p:xfrm>
          <a:off x="608330" y="3816985"/>
          <a:ext cx="3566160" cy="2146300"/>
        </p:xfrm>
        <a:graphic>
          <a:graphicData uri="http://schemas.openxmlformats.org/drawingml/2006/table">
            <a:tbl>
              <a:tblPr/>
              <a:tblGrid>
                <a:gridCol w="678180"/>
                <a:gridCol w="1699260"/>
                <a:gridCol w="1188720"/>
              </a:tblGrid>
              <a:tr h="207645">
                <a:tc>
                  <a:txBody>
                    <a:bodyPr/>
                    <a:p>
                      <a:r>
                        <a:rPr lang="en-US" altLang="zh-CN" sz="1100" b="1"/>
                        <a:t>Host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 b="1"/>
                        <a:t>Hostname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 b="1"/>
                        <a:t>IP Address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0200">
                <a:tc>
                  <a:txBody>
                    <a:bodyPr/>
                    <a:p>
                      <a:r>
                        <a:rPr lang="en-US" altLang="zh-CN" sz="1100"/>
                        <a:t>Apache1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apache1-7954f99869-fx698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192.168.1.191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1150">
                <a:tc>
                  <a:txBody>
                    <a:bodyPr/>
                    <a:p>
                      <a:r>
                        <a:rPr lang="en-US" altLang="zh-CN" sz="1100"/>
                        <a:t>Apache2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apache2-cdb64f587-w89h5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192.168.1.191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81940">
                <a:tc>
                  <a:txBody>
                    <a:bodyPr/>
                    <a:p>
                      <a:r>
                        <a:rPr lang="en-US" altLang="zh-CN" sz="1100"/>
                        <a:t>Apache3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apache3-66dd6db589-zv8g6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192.168.1.191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3215">
                <a:tc>
                  <a:txBody>
                    <a:bodyPr/>
                    <a:p>
                      <a:r>
                        <a:rPr lang="en-US" altLang="zh-CN" sz="1100"/>
                        <a:t>SCP Host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glb-5ff8fff4f5-7g47c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192.168.1.191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8610">
                <a:tc>
                  <a:txBody>
                    <a:bodyPr/>
                    <a:p>
                      <a:r>
                        <a:rPr lang="en-US" altLang="zh-CN" sz="1100"/>
                        <a:t>GLB Host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sftp-6f5f5f9995-8wkd4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192.168.1.191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3540">
                <a:tc>
                  <a:txBody>
                    <a:bodyPr/>
                    <a:p>
                      <a:pPr>
                        <a:buNone/>
                      </a:pP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 Box 9"/>
          <p:cNvSpPr txBox="1"/>
          <p:nvPr/>
        </p:nvSpPr>
        <p:spPr>
          <a:xfrm>
            <a:off x="395605" y="95377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200"/>
              <a:t>1. Nodes and IP’s</a:t>
            </a:r>
            <a:endParaRPr lang="en-IN" altLang="en-US" sz="1200"/>
          </a:p>
        </p:txBody>
      </p:sp>
      <p:sp>
        <p:nvSpPr>
          <p:cNvPr id="15" name="Text Box 14"/>
          <p:cNvSpPr txBox="1"/>
          <p:nvPr/>
        </p:nvSpPr>
        <p:spPr>
          <a:xfrm>
            <a:off x="5113020" y="94996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200"/>
              <a:t>2. Verify Before Uploading </a:t>
            </a:r>
            <a:endParaRPr lang="en-IN" altLang="en-US" sz="1200"/>
          </a:p>
        </p:txBody>
      </p:sp>
      <p:sp>
        <p:nvSpPr>
          <p:cNvPr id="16" name="Text Box 15"/>
          <p:cNvSpPr txBox="1"/>
          <p:nvPr/>
        </p:nvSpPr>
        <p:spPr>
          <a:xfrm>
            <a:off x="5113020" y="338963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200"/>
              <a:t>3. Upload using SCP and Verify</a:t>
            </a:r>
            <a:endParaRPr lang="en-IN" alt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544195"/>
            <a:ext cx="5029200" cy="5029200"/>
          </a:xfrm>
          <a:prstGeom prst="ellipse">
            <a:avLst/>
          </a:prstGeom>
          <a:solidFill>
            <a:srgbClr val="D71E28">
              <a:alpha val="1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640080" y="6858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This Design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2B2B2B"/>
          </a:solidFill>
          <a:ln w="19050">
            <a:solidFill>
              <a:srgbClr val="FFCD41"/>
            </a:solidFill>
            <a:prstDash val="solid"/>
          </a:ln>
        </p:spPr>
      </p:sp>
      <p:pic>
        <p:nvPicPr>
          <p:cNvPr id="5" name="Image 0" descr="/home/claude/build/icons/shield_F5A62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45059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30428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Availability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25880" y="2679192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independent Apache nodes behind a load balancer eliminate single points of failure.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26480" y="2331720"/>
            <a:ext cx="502920" cy="502920"/>
          </a:xfrm>
          <a:prstGeom prst="ellipse">
            <a:avLst/>
          </a:prstGeom>
          <a:solidFill>
            <a:srgbClr val="2B2B2B"/>
          </a:solidFill>
          <a:ln w="19050">
            <a:solidFill>
              <a:srgbClr val="FFCD41"/>
            </a:solidFill>
            <a:prstDash val="solid"/>
          </a:ln>
        </p:spPr>
      </p:sp>
      <p:pic>
        <p:nvPicPr>
          <p:cNvPr id="9" name="Image 1" descr="/home/claude/build/icons/sync_F5A6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2450592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12280" y="230428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Consistency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812280" y="2679192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NFS</a:t>
            </a:r>
            <a:r>
              <a:rPr lang="en-IN" alt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storage means every node serves identical content the moment it's uploaded.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544195"/>
            <a:ext cx="5029200" cy="5029200"/>
          </a:xfrm>
          <a:prstGeom prst="ellipse">
            <a:avLst/>
          </a:prstGeom>
          <a:solidFill>
            <a:srgbClr val="D71E28">
              <a:alpha val="1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093210" y="3154680"/>
            <a:ext cx="335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IN" altLang="en-US" sz="48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280*161"/>
  <p:tag name="TABLE_ENDDRAG_RECT" val="47*293*280*16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2473</Words>
  <Application>WPS Presentation</Application>
  <PresentationFormat>On-screen Show (16:9)</PresentationFormat>
  <Paragraphs>259</Paragraphs>
  <Slides>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Server Load Balancer with Shared NFS Storage</dc:title>
  <dc:creator>Infrastructure Team</dc:creator>
  <dc:subject>PptxGenJS Presentation</dc:subject>
  <cp:lastModifiedBy>madhu</cp:lastModifiedBy>
  <cp:revision>67</cp:revision>
  <dcterms:created xsi:type="dcterms:W3CDTF">2026-07-03T10:01:00Z</dcterms:created>
  <dcterms:modified xsi:type="dcterms:W3CDTF">2026-07-03T17:54:11Z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EA7D2BC839BC4E5B99FA4EFA1D424242_12</vt:lpwstr>
  </property>
  <property fmtid="{D5CDD505-2E9C-101B-9397-08002B2CF9AE}" pid="3" name="KSOProductBuildVer">
    <vt:lpwstr>1033-12.1.0.26880</vt:lpwstr>
  </property>
</Properties>
</file>