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3" r:id="rId10"/>
    <p:sldId id="264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620"/>
            <a:ext cx="12188952" cy="68580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7867015" y="0"/>
            <a:ext cx="4325112" cy="6858000"/>
          </a:xfrm>
          <a:prstGeom prst="rect">
            <a:avLst/>
          </a:prstGeom>
          <a:solidFill>
            <a:srgbClr val="2B2B2B">
              <a:alpha val="7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126480" y="0"/>
            <a:ext cx="6172200" cy="5589905"/>
          </a:xfrm>
          <a:prstGeom prst="ellipse">
            <a:avLst/>
          </a:prstGeom>
          <a:solidFill>
            <a:srgbClr val="D71E28">
              <a:alpha val="18000"/>
            </a:srgbClr>
          </a:solidFill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0" y="4206240"/>
            <a:ext cx="3291840" cy="3291840"/>
          </a:xfrm>
          <a:prstGeom prst="ellipse">
            <a:avLst/>
          </a:prstGeom>
          <a:solidFill>
            <a:srgbClr val="FFCD41">
              <a:alpha val="1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40080" y="777240"/>
            <a:ext cx="78638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 Server Load Balancer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with Shared NFS</a:t>
            </a:r>
            <a:r>
              <a:rPr lang="en-IN" alt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/NAS</a:t>
            </a: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Storage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99360"/>
            <a:ext cx="6949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High-availability Apache web tier behind an HAProxy load balancer, backed by shared NFS</a:t>
            </a:r>
            <a:r>
              <a:rPr lang="en-IN" altLang="en-US" sz="13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3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0" name="Image 0" descr="/home/claude/build/icons/server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91947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x3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7452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3" name="Image 1" descr="/home/claude/build/icons/netwo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49194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0896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6" name="Image 2" descr="/home/claude/build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49194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8036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NFS</a:t>
            </a:r>
            <a:r>
              <a:rPr lang="en-IN" alt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endParaRPr lang="en-IN" altLang="en-US" sz="950" dirty="0">
              <a:solidFill>
                <a:srgbClr val="E0E0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343400" y="4800600"/>
            <a:ext cx="566928" cy="566928"/>
          </a:xfrm>
          <a:prstGeom prst="ellipse">
            <a:avLst/>
          </a:prstGeom>
          <a:solidFill>
            <a:srgbClr val="2B2B2B"/>
          </a:solidFill>
          <a:ln w="15875">
            <a:solidFill>
              <a:srgbClr val="D71E28"/>
            </a:solidFill>
            <a:prstDash val="solid"/>
          </a:ln>
        </p:spPr>
      </p:sp>
      <p:pic>
        <p:nvPicPr>
          <p:cNvPr id="19" name="Image 3" descr="/home/claude/build/icons/uplo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491947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1480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9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 Server</a:t>
            </a:r>
            <a:endParaRPr lang="en-IN" altLang="en-US" sz="950" dirty="0">
              <a:solidFill>
                <a:srgbClr val="E0E0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0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Madhu R</a:t>
            </a:r>
            <a:endParaRPr lang="en-IN" altLang="en-US" sz="1050" i="1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Three-tier topology — client access, load-balanced compute, shared storage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667115" cy="1234440"/>
          </a:xfrm>
          <a:prstGeom prst="roundRect">
            <a:avLst>
              <a:gd name="adj" fmla="val 4444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7218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ZONE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667750" cy="137160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3522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LOAD-BALANCED WEB TIER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8661400" cy="1234440"/>
          </a:xfrm>
          <a:prstGeom prst="roundRect">
            <a:avLst>
              <a:gd name="adj" fmla="val 4444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48970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STORAGE TIER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16916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1" name="Image 0" descr="/home/claude/build/icons/desktop_1E276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819656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2768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5694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57800" y="16916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5" name="Image 1" descr="/home/claude/build/icons/network_2F6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819656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2768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GLB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IN" altLang="en-US" sz="11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303520" y="25694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261475" y="1251585"/>
            <a:ext cx="2377440" cy="1471930"/>
          </a:xfrm>
          <a:prstGeom prst="roundRect">
            <a:avLst>
              <a:gd name="adj" fmla="val 16000"/>
            </a:avLst>
          </a:prstGeom>
          <a:solidFill>
            <a:schemeClr val="bg2"/>
          </a:solidFill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" name="Text 15"/>
          <p:cNvSpPr/>
          <p:nvPr/>
        </p:nvSpPr>
        <p:spPr>
          <a:xfrm>
            <a:off x="9421495" y="1267460"/>
            <a:ext cx="2646045" cy="143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IN" alt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 Address mapping</a:t>
            </a:r>
            <a:r>
              <a:rPr lang="en-IN" alt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br>
              <a:rPr lang="en-IN" alt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IN" alt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Apache1:- 192.168.1.191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Apache2:-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192.168.1.192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Apache3:- </a:t>
            </a: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192.168.1.193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SCP Host:- 192.168.1.194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GLB Host:- 192.168.1.195</a:t>
            </a:r>
            <a:endParaRPr lang="en-US" sz="10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38328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1" name="Image 2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3282696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900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42900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192.168.1.191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25780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5" name="Image 3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3282696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30352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192.168.1.192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713232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4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3282696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7804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17804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192.168.1.193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86868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33" name="Image 5" descr="/home/claude/build/icons/upload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3282696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440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1440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192.168.1.194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257800" y="4709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37" name="Image 6" descr="/home/claude/build/icons/database_2F6F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4837176"/>
            <a:ext cx="438912" cy="4389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03520" y="529437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303520" y="558698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192.168.1.130:/nfs/shared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2423160" y="2304288"/>
            <a:ext cx="2834640" cy="914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4160520" y="3017520"/>
            <a:ext cx="1874520" cy="914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>
            <a:off x="4160520" y="3017520"/>
            <a:ext cx="914" cy="13716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5" name="Shape 36"/>
          <p:cNvSpPr/>
          <p:nvPr/>
        </p:nvSpPr>
        <p:spPr>
          <a:xfrm>
            <a:off x="6035040" y="3017520"/>
            <a:ext cx="914" cy="914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>
            <a:off x="6035040" y="3017520"/>
            <a:ext cx="914" cy="13716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47" name="Shape 38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8" name="Shape 39"/>
          <p:cNvSpPr/>
          <p:nvPr/>
        </p:nvSpPr>
        <p:spPr>
          <a:xfrm>
            <a:off x="6035040" y="3017520"/>
            <a:ext cx="1874520" cy="914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>
            <a:off x="7909560" y="3017520"/>
            <a:ext cx="914" cy="137160"/>
          </a:xfrm>
          <a:prstGeom prst="line">
            <a:avLst/>
          </a:prstGeom>
          <a:noFill/>
          <a:ln w="22225">
            <a:solidFill>
              <a:srgbClr val="D71E28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1645920" y="4389120"/>
            <a:ext cx="914" cy="777240"/>
          </a:xfrm>
          <a:prstGeom prst="line">
            <a:avLst/>
          </a:prstGeom>
          <a:noFill/>
          <a:ln w="22225">
            <a:solidFill>
              <a:srgbClr val="FFCD41"/>
            </a:solidFill>
            <a:prstDash val="solid"/>
            <a:tailEnd type="none"/>
          </a:ln>
        </p:spPr>
      </p:sp>
      <p:sp>
        <p:nvSpPr>
          <p:cNvPr id="51" name="Shape 42"/>
          <p:cNvSpPr/>
          <p:nvPr/>
        </p:nvSpPr>
        <p:spPr>
          <a:xfrm>
            <a:off x="1645920" y="5166360"/>
            <a:ext cx="3611880" cy="914"/>
          </a:xfrm>
          <a:prstGeom prst="line">
            <a:avLst/>
          </a:prstGeom>
          <a:noFill/>
          <a:ln w="222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52" name="Shape 43"/>
          <p:cNvSpPr/>
          <p:nvPr/>
        </p:nvSpPr>
        <p:spPr>
          <a:xfrm>
            <a:off x="4160520" y="4389120"/>
            <a:ext cx="914" cy="164592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4160520" y="4553712"/>
            <a:ext cx="201168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4" name="Shape 45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triangle"/>
          </a:ln>
        </p:spPr>
      </p:sp>
      <p:sp>
        <p:nvSpPr>
          <p:cNvPr id="55" name="Shape 46"/>
          <p:cNvSpPr/>
          <p:nvPr/>
        </p:nvSpPr>
        <p:spPr>
          <a:xfrm>
            <a:off x="6035040" y="4389120"/>
            <a:ext cx="914" cy="164592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6" name="Shape 47"/>
          <p:cNvSpPr/>
          <p:nvPr/>
        </p:nvSpPr>
        <p:spPr>
          <a:xfrm>
            <a:off x="6035040" y="4553712"/>
            <a:ext cx="13716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7" name="Shape 48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triangle"/>
          </a:ln>
        </p:spPr>
      </p:sp>
      <p:sp>
        <p:nvSpPr>
          <p:cNvPr id="58" name="Shape 49"/>
          <p:cNvSpPr/>
          <p:nvPr/>
        </p:nvSpPr>
        <p:spPr>
          <a:xfrm>
            <a:off x="7909560" y="4389120"/>
            <a:ext cx="914" cy="164592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59" name="Shape 50"/>
          <p:cNvSpPr/>
          <p:nvPr/>
        </p:nvSpPr>
        <p:spPr>
          <a:xfrm flipH="1">
            <a:off x="6172200" y="4553712"/>
            <a:ext cx="1737360" cy="914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none"/>
          </a:ln>
        </p:spPr>
      </p:sp>
      <p:sp>
        <p:nvSpPr>
          <p:cNvPr id="60" name="Shape 51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595959"/>
            </a:solidFill>
            <a:prstDash val="dash"/>
            <a:tailEnd type="triangle"/>
          </a:ln>
        </p:spPr>
      </p:sp>
      <p:sp>
        <p:nvSpPr>
          <p:cNvPr id="62" name="Text 5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3" name="Text 54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Shape 10"/>
          <p:cNvSpPr/>
          <p:nvPr/>
        </p:nvSpPr>
        <p:spPr>
          <a:xfrm>
            <a:off x="9261475" y="3154680"/>
            <a:ext cx="2377440" cy="2179955"/>
          </a:xfrm>
          <a:prstGeom prst="roundRect">
            <a:avLst>
              <a:gd name="adj" fmla="val 8235"/>
            </a:avLst>
          </a:prstGeom>
          <a:solidFill>
            <a:srgbClr val="EFEFEF"/>
          </a:solidFill>
          <a:ln w="12700">
            <a:solidFill>
              <a:srgbClr val="F2F2F2"/>
            </a:solidFill>
            <a:prstDash val="solid"/>
          </a:ln>
        </p:spPr>
        <p:txBody>
          <a:bodyPr/>
          <a:p>
            <a:r>
              <a:rPr lang="en-IN" altLang="en-US" b="1"/>
              <a:t>Components</a:t>
            </a:r>
            <a:endParaRPr lang="en-IN" altLang="en-US"/>
          </a:p>
        </p:txBody>
      </p:sp>
      <p:sp>
        <p:nvSpPr>
          <p:cNvPr id="81" name="Text 8"/>
          <p:cNvSpPr/>
          <p:nvPr/>
        </p:nvSpPr>
        <p:spPr>
          <a:xfrm>
            <a:off x="9416288" y="3572637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GLB (HAProxy)</a:t>
            </a:r>
            <a:endParaRPr 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2" name="Text 9"/>
          <p:cNvSpPr/>
          <p:nvPr/>
        </p:nvSpPr>
        <p:spPr>
          <a:xfrm>
            <a:off x="9416288" y="3703701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Round-robin load balancing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9414383" y="465582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</a:t>
            </a:r>
            <a:endParaRPr lang="en-IN" alt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9414383" y="4773549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website content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9414383" y="431292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9414383" y="4436364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storage across all web nodes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7" name="Text 4"/>
          <p:cNvSpPr/>
          <p:nvPr/>
        </p:nvSpPr>
        <p:spPr>
          <a:xfrm>
            <a:off x="9416415" y="3841115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 / 2 / 3</a:t>
            </a:r>
            <a:endParaRPr lang="en-US" sz="9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8" name="Text 5"/>
          <p:cNvSpPr/>
          <p:nvPr/>
        </p:nvSpPr>
        <p:spPr>
          <a:xfrm>
            <a:off x="9401175" y="4021455"/>
            <a:ext cx="448056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 website content</a:t>
            </a:r>
            <a:endParaRPr lang="en-US" sz="800" dirty="0">
              <a:solidFill>
                <a:srgbClr val="59595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Upload Flow</a:t>
            </a:r>
            <a:endParaRPr lang="en-IN" altLang="en-US" sz="2600" b="1" dirty="0">
              <a:solidFill>
                <a:srgbClr val="00000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D41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1E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— Content Upload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files are uploaded via 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SCP/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 (192.168.1.194) directly onto the shared NFS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8" name="Image 0" descr="/home/claude/build/icons/desktop_AEB8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2" name="Image 1" descr="/home/claude/build/icons/upload_0B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SCP/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6" name="Image 2" descr="/home/claude/build/icons/network_AEB8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0" name="Image 3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3" name="Image 4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6" name="Image 5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197610" y="5394960"/>
            <a:ext cx="635" cy="394335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>
            <a:off x="1210310" y="5769610"/>
            <a:ext cx="8815705" cy="635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H="1" flipV="1">
            <a:off x="10003790" y="5394960"/>
            <a:ext cx="9525" cy="38989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6" name="Shape 27"/>
          <p:cNvSpPr/>
          <p:nvPr/>
        </p:nvSpPr>
        <p:spPr>
          <a:xfrm flipH="1">
            <a:off x="3794760" y="5640705"/>
            <a:ext cx="594360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V="1">
            <a:off x="3800475" y="536067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354955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9749790" y="55092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354955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FFCD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Shared to WebSevers </a:t>
            </a:r>
            <a:endParaRPr lang="en-IN" altLang="en-US" sz="2600" b="1" dirty="0">
              <a:solidFill>
                <a:srgbClr val="00000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D41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1E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Shared Distribution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Apache nodes mount the same NFS</a:t>
            </a:r>
            <a:r>
              <a:rPr lang="en-IN" alt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path (192.168.1.130:/nfs/shared) — every server serves identical content instantly.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8" name="Image 0" descr="/home/claude/build/icons/desktop_AEB8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2" name="Image 1" descr="/home/claude/build/icons/upload_AEB8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6" name="Image 2" descr="/home/claude/build/icons/network_AEB8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0" name="Image 3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3" name="Image 4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6" name="Image 5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402080" y="5574030"/>
            <a:ext cx="635" cy="54864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 flipV="1">
            <a:off x="1392555" y="6109970"/>
            <a:ext cx="8730615" cy="1651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V="1">
            <a:off x="10114915" y="5414010"/>
            <a:ext cx="8255" cy="68961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 flipH="1">
            <a:off x="4069080" y="5969000"/>
            <a:ext cx="594360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H="1" flipV="1">
            <a:off x="4069715" y="5431790"/>
            <a:ext cx="14605" cy="54737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 flipH="1">
            <a:off x="5852160" y="5969000"/>
            <a:ext cx="416052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417820"/>
            <a:ext cx="635" cy="54864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003790" y="5440680"/>
            <a:ext cx="9525" cy="54483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7635875" y="5969635"/>
            <a:ext cx="237744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436235"/>
            <a:ext cx="635" cy="522605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FFCD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Download or Access Flow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FCD41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71E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— Load-Balanced Serving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Clients browse to http://192.168.1.195; HAProxy round-robins each request across Apache-1/2/3.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8" name="Image 0" descr="/home/claude/build/icons/desktop_0B14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AFAFA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2" name="Image 1" descr="/home/claude/build/icons/upload_AEB8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16" name="Image 2" descr="/home/claude/build/icons/network_0B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0" name="Image 3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3" name="Image 4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FCD41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6" name="Image 5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  <a:effectLst>
            <a:outerShdw blurRad="101600" dist="38100" dir="5400000" algn="bl" rotWithShape="0">
              <a:srgbClr val="2B2B2B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417320" y="5444490"/>
            <a:ext cx="635" cy="48768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 flipV="1">
            <a:off x="1417955" y="5903595"/>
            <a:ext cx="8803005" cy="20955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H="1" flipV="1">
            <a:off x="10201910" y="5426075"/>
            <a:ext cx="8255" cy="49784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6" name="Shape 27"/>
          <p:cNvSpPr/>
          <p:nvPr/>
        </p:nvSpPr>
        <p:spPr>
          <a:xfrm flipH="1">
            <a:off x="3903980" y="5718810"/>
            <a:ext cx="594360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V="1">
            <a:off x="3916680" y="544195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39" name="Shape 30"/>
          <p:cNvSpPr/>
          <p:nvPr/>
        </p:nvSpPr>
        <p:spPr>
          <a:xfrm flipH="1">
            <a:off x="5687060" y="5718810"/>
            <a:ext cx="416052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45465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7527290" y="5718810"/>
            <a:ext cx="2377440" cy="914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44830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34925">
            <a:solidFill>
              <a:srgbClr val="FFCD41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D9D9D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FFCD4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Shape 34"/>
          <p:cNvSpPr/>
          <p:nvPr/>
        </p:nvSpPr>
        <p:spPr>
          <a:xfrm flipV="1">
            <a:off x="9895840" y="5449570"/>
            <a:ext cx="914" cy="274320"/>
          </a:xfrm>
          <a:prstGeom prst="line">
            <a:avLst/>
          </a:prstGeom>
          <a:noFill/>
          <a:ln w="19050">
            <a:solidFill>
              <a:srgbClr val="F2F2F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30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Screenshots 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412480" y="20802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</p:spPr>
      </p:sp>
      <p:pic>
        <p:nvPicPr>
          <p:cNvPr id="12" name="Image 1" descr="/home/claude/build/icons/upload_2F6F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2174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0" y="276606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309360" y="152704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 Upload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2743200" y="47320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1E28"/>
            </a:solidFill>
            <a:prstDash val="solid"/>
          </a:ln>
        </p:spPr>
      </p:sp>
      <p:pic>
        <p:nvPicPr>
          <p:cNvPr id="18" name="Image 2" descr="/home/claude/build/icons/network_2F6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8691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541782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417880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Stats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069080" y="490804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 -h / mount output on Apache nodes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90500" y="62362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IN" altLang="en-US" sz="900" dirty="0"/>
              <a:t>6</a:t>
            </a:r>
            <a:endParaRPr lang="en-IN" altLang="en-US" sz="9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5" y="984250"/>
            <a:ext cx="4593590" cy="203771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290" y="984250"/>
            <a:ext cx="6911340" cy="218694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135" y="3345815"/>
            <a:ext cx="6820535" cy="2729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544195"/>
            <a:ext cx="5029200" cy="5029200"/>
          </a:xfrm>
          <a:prstGeom prst="ellipse">
            <a:avLst/>
          </a:prstGeom>
          <a:solidFill>
            <a:srgbClr val="D71E28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Design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2B2B2B"/>
          </a:solidFill>
          <a:ln w="19050">
            <a:solidFill>
              <a:srgbClr val="FFCD41"/>
            </a:solidFill>
            <a:prstDash val="solid"/>
          </a:ln>
        </p:spPr>
      </p:sp>
      <p:pic>
        <p:nvPicPr>
          <p:cNvPr id="5" name="Image 0" descr="/home/claude/build/icons/shield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505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3042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Availability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679192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independent Apache nodes behind a load balancer eliminate single points of failure.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331720"/>
            <a:ext cx="502920" cy="502920"/>
          </a:xfrm>
          <a:prstGeom prst="ellipse">
            <a:avLst/>
          </a:prstGeom>
          <a:solidFill>
            <a:srgbClr val="2B2B2B"/>
          </a:solidFill>
          <a:ln w="19050">
            <a:solidFill>
              <a:srgbClr val="FFCD41"/>
            </a:solidFill>
            <a:prstDash val="solid"/>
          </a:ln>
        </p:spPr>
      </p:sp>
      <p:pic>
        <p:nvPicPr>
          <p:cNvPr id="9" name="Image 1" descr="/home/claude/build/icons/sync_F5A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45059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23042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Consistency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12280" y="2679192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NFS</a:t>
            </a:r>
            <a:r>
              <a:rPr lang="en-IN" alt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05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 means every node serves identical content the moment it's uploaded.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544195"/>
            <a:ext cx="5029200" cy="5029200"/>
          </a:xfrm>
          <a:prstGeom prst="ellipse">
            <a:avLst/>
          </a:prstGeom>
          <a:solidFill>
            <a:srgbClr val="D71E28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093210" y="3154680"/>
            <a:ext cx="335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IN" altLang="en-US" sz="4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2266</Words>
  <Application>WPS Presentation</Application>
  <PresentationFormat>On-screen Show (16:9)</PresentationFormat>
  <Paragraphs>225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Server Load Balancer with Shared NFS Storage</dc:title>
  <dc:creator>Infrastructure Team</dc:creator>
  <dc:subject>PptxGenJS Presentation</dc:subject>
  <cp:lastModifiedBy>madhu</cp:lastModifiedBy>
  <cp:revision>56</cp:revision>
  <dcterms:created xsi:type="dcterms:W3CDTF">2026-07-03T10:01:00Z</dcterms:created>
  <dcterms:modified xsi:type="dcterms:W3CDTF">2026-07-03T15:38:33Z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EA7D2BC839BC4E5B99FA4EFA1D424242_12</vt:lpwstr>
  </property>
  <property fmtid="{D5CDD505-2E9C-101B-9397-08002B2CF9AE}" pid="3" name="KSOProductBuildVer">
    <vt:lpwstr>1033-12.1.0.26880</vt:lpwstr>
  </property>
</Properties>
</file>