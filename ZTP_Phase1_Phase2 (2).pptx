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6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1250"/>
          </a:solidFill>
        </p:spPr>
      </p:sp>
      <p:sp>
        <p:nvSpPr>
          <p:cNvPr id="3" name="Shape 1"/>
          <p:cNvSpPr/>
          <p:nvPr/>
        </p:nvSpPr>
        <p:spPr>
          <a:xfrm>
            <a:off x="-2377440" y="4754880"/>
            <a:ext cx="4572000" cy="4572000"/>
          </a:xfrm>
          <a:prstGeom prst="ellipse">
            <a:avLst/>
          </a:prstGeom>
          <a:solidFill>
            <a:srgbClr val="18103F"/>
          </a:solidFill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HLD / LLD  ·  NETWORK AUTOMATION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99669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Enterprise Zero-Touch Provisioning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B9A6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rack to production-ready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955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provisioning for Cisco and Arista switches — integrating Rack Builder, ServiceNow, Infoblox DDI, DHCP, Python bootstrap, Git and Ansible Automation Platform (AAP) to eliminate manual configuration.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1E1544"/>
          </a:solidFill>
        </p:spPr>
      </p:sp>
      <p:sp>
        <p:nvSpPr>
          <p:cNvPr id="8" name="Shape 6"/>
          <p:cNvSpPr/>
          <p:nvPr/>
        </p:nvSpPr>
        <p:spPr>
          <a:xfrm>
            <a:off x="960120" y="5212080"/>
            <a:ext cx="292608" cy="29260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9" name="Text 7"/>
          <p:cNvSpPr/>
          <p:nvPr/>
        </p:nvSpPr>
        <p:spPr>
          <a:xfrm>
            <a:off x="960120" y="5193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507492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1: Pre-ZTP Preparation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5074920"/>
            <a:ext cx="2926080" cy="566928"/>
          </a:xfrm>
          <a:prstGeom prst="roundRect">
            <a:avLst>
              <a:gd name="adj" fmla="val 19355"/>
            </a:avLst>
          </a:prstGeom>
          <a:solidFill>
            <a:srgbClr val="1E1544"/>
          </a:solidFill>
        </p:spPr>
      </p:sp>
      <p:sp>
        <p:nvSpPr>
          <p:cNvPr id="12" name="Shape 10"/>
          <p:cNvSpPr/>
          <p:nvPr/>
        </p:nvSpPr>
        <p:spPr>
          <a:xfrm>
            <a:off x="4526280" y="5212080"/>
            <a:ext cx="292608" cy="29260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13" name="Text 11"/>
          <p:cNvSpPr/>
          <p:nvPr/>
        </p:nvSpPr>
        <p:spPr>
          <a:xfrm>
            <a:off x="4526280" y="5193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507492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2: ZTP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2743200"/>
            <a:ext cx="1463040" cy="1463040"/>
          </a:xfrm>
          <a:prstGeom prst="ellipse">
            <a:avLst/>
          </a:prstGeom>
          <a:solidFill>
            <a:srgbClr val="1E1544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2933395"/>
            <a:ext cx="108265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Purpose &amp; solution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881360" cy="0"/>
          </a:xfrm>
          <a:prstGeom prst="line">
            <a:avLst/>
          </a:prstGeom>
          <a:noFill/>
          <a:ln w="12700">
            <a:solidFill>
              <a:srgbClr val="E4DF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2120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Describes the end-to-end enterprise workflow for provisioning Cisco and Arista switches using Zero Touch Provisioning (ZTP), split into two major phases — Pre-ZTP Preparation and ZTP Execution — to eliminate manual switch configuration.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0" cy="3520440"/>
          </a:xfrm>
          <a:prstGeom prst="line">
            <a:avLst/>
          </a:prstGeom>
          <a:noFill/>
          <a:ln w="12700">
            <a:solidFill>
              <a:srgbClr val="E4DF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691640"/>
            <a:ext cx="516636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Provisioning begins long before a switch is powered on. Operational teams prepare rack assignments, reserve ports, register serials, and allocate management IPs. Once installed, the switch retrieves its bootstrap script, validates hardware/software, upgrades the OS if required, receives its production configuration, performs health validation, and updates enterprise inventory systems.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40817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0" name="Text 8"/>
          <p:cNvSpPr/>
          <p:nvPr/>
        </p:nvSpPr>
        <p:spPr>
          <a:xfrm>
            <a:off x="640080" y="5120640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31136" y="5120640"/>
            <a:ext cx="122529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2" name="Text 10"/>
          <p:cNvSpPr/>
          <p:nvPr/>
        </p:nvSpPr>
        <p:spPr>
          <a:xfrm>
            <a:off x="2231136" y="5120640"/>
            <a:ext cx="122529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ServiceNow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39312" y="5120640"/>
            <a:ext cx="140817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4" name="Text 12"/>
          <p:cNvSpPr/>
          <p:nvPr/>
        </p:nvSpPr>
        <p:spPr>
          <a:xfrm>
            <a:off x="3639312" y="5120640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Infoblox DDI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30368" y="5120640"/>
            <a:ext cx="67665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6" name="Text 14"/>
          <p:cNvSpPr/>
          <p:nvPr/>
        </p:nvSpPr>
        <p:spPr>
          <a:xfrm>
            <a:off x="5230368" y="5120640"/>
            <a:ext cx="67665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DHCP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5120640"/>
            <a:ext cx="85953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8" name="Text 16"/>
          <p:cNvSpPr/>
          <p:nvPr/>
        </p:nvSpPr>
        <p:spPr>
          <a:xfrm>
            <a:off x="6089904" y="5120640"/>
            <a:ext cx="85953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5120640"/>
            <a:ext cx="58521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20" name="Text 18"/>
          <p:cNvSpPr/>
          <p:nvPr/>
        </p:nvSpPr>
        <p:spPr>
          <a:xfrm>
            <a:off x="7132320" y="5120640"/>
            <a:ext cx="58521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0416" y="5120640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22" name="Text 20"/>
          <p:cNvSpPr/>
          <p:nvPr/>
        </p:nvSpPr>
        <p:spPr>
          <a:xfrm>
            <a:off x="7900416" y="5120640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Ansible AAP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phases, one seamless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hand-off from human planning to machine execution.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1E1544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640080" cy="64008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5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PRE-ZTP PREPARATION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05840" y="260604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Prepares all enterprise systems before the switch is connected.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3291840"/>
            <a:ext cx="128016" cy="128016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0" name="Text 7"/>
          <p:cNvSpPr/>
          <p:nvPr/>
        </p:nvSpPr>
        <p:spPr>
          <a:xfrm>
            <a:off x="1261872" y="3145536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61872" y="3465576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rack, RU position, management port; record vendor/model/serial.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05840" y="4224528"/>
            <a:ext cx="128016" cy="128016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3" name="Text 10"/>
          <p:cNvSpPr/>
          <p:nvPr/>
        </p:nvSpPr>
        <p:spPr>
          <a:xfrm>
            <a:off x="1261872" y="407822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ServiceNow CMDB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61872" y="4398264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device record; store serial, site, rack, owner; track lifecycle status.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05840" y="5157216"/>
            <a:ext cx="128016" cy="128016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6" name="Text 13"/>
          <p:cNvSpPr/>
          <p:nvPr/>
        </p:nvSpPr>
        <p:spPr>
          <a:xfrm>
            <a:off x="1261872" y="501091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Infoblox DDI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261872" y="5330952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 management IP; create DNS records and DHCP reservation with Option 67/150.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6235700"/>
            <a:ext cx="4160520" cy="493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network infrastructure fully prepared — device ready for automated provisioning.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3703320"/>
            <a:ext cx="457200" cy="457200"/>
          </a:xfrm>
          <a:prstGeom prst="ellipse">
            <a:avLst/>
          </a:prstGeom>
          <a:solidFill>
            <a:srgbClr val="1E1544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3762756"/>
            <a:ext cx="338328" cy="3383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37960" y="169164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1E1544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03720" y="2057400"/>
            <a:ext cx="640080" cy="640080"/>
          </a:xfrm>
          <a:prstGeom prst="ellipse">
            <a:avLst/>
          </a:prstGeom>
          <a:solidFill>
            <a:srgbClr val="7C5CFA"/>
          </a:solidFill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930" y="2140610"/>
            <a:ext cx="473659" cy="47365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26680" y="2057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ZTP EXECUTION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903720" y="260604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the switch is powered on, the full ZTP workflow starts automatically.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903720" y="3291840"/>
            <a:ext cx="128016" cy="128016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7" name="Text 22"/>
          <p:cNvSpPr/>
          <p:nvPr/>
        </p:nvSpPr>
        <p:spPr>
          <a:xfrm>
            <a:off x="7159752" y="3145536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 → DHCP → Bootstrap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159752" y="3465576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boots, discovers DHCP, and downloads bootstrap.py from the ZTP server.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903720" y="4224528"/>
            <a:ext cx="128016" cy="128016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30" name="Text 25"/>
          <p:cNvSpPr/>
          <p:nvPr/>
        </p:nvSpPr>
        <p:spPr>
          <a:xfrm>
            <a:off x="7159752" y="4078224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→ AAP Handoff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7159752" y="4398264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collects facts and calls Ansible AAP via REST API to deploy config from Git.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903720" y="5157216"/>
            <a:ext cx="128016" cy="128016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33" name="Text 28"/>
          <p:cNvSpPr/>
          <p:nvPr/>
        </p:nvSpPr>
        <p:spPr>
          <a:xfrm>
            <a:off x="7159752" y="5010912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→ Handover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7159752" y="533095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checks run, ServiceNow updates, monitoring begins, device goes production.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858000" y="6263513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switch fully configured</a:t>
            </a:r>
            <a:r>
              <a:rPr lang="en-IN" alt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</a:t>
            </a:r>
            <a:r>
              <a:rPr 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E8A857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Pre-ZTP Preparation: three systems, three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Objectives, activities and outputs for each pre-work system, per the LLD.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17444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Rack Builder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2816352"/>
            <a:ext cx="27980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 the physical installation before the switch arrives.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336499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32688" y="3639312"/>
            <a:ext cx="279806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rack location (Rack/RU)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management switch port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serial number, model, asset tag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cabling and power availability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32688" y="5394960"/>
            <a:ext cx="2798064" cy="9144"/>
          </a:xfrm>
          <a:prstGeom prst="rect">
            <a:avLst/>
          </a:prstGeom>
          <a:solidFill>
            <a:srgbClr val="E4DFF7"/>
          </a:solidFill>
        </p:spPr>
      </p:sp>
      <p:sp>
        <p:nvSpPr>
          <p:cNvPr id="14" name="Text 11"/>
          <p:cNvSpPr/>
          <p:nvPr/>
        </p:nvSpPr>
        <p:spPr>
          <a:xfrm>
            <a:off x="932688" y="551383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2688" y="5733288"/>
            <a:ext cx="27980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deployment request is generated and forwarded for inventory registration.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4340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43" y="2174443"/>
            <a:ext cx="405994" cy="40599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ServiceNow CMDB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36008" y="2816352"/>
            <a:ext cx="27980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the source of truth for network assets.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636008" y="336499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636008" y="3639312"/>
            <a:ext cx="279806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CMDB record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serial, vendor, model, site, rack, owner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Associate change request &amp; deployment ticket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status: Planned → In Progress → Completed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36008" y="5394960"/>
            <a:ext cx="2798064" cy="9144"/>
          </a:xfrm>
          <a:prstGeom prst="rect">
            <a:avLst/>
          </a:prstGeom>
          <a:solidFill>
            <a:srgbClr val="E4DFF7"/>
          </a:solidFill>
        </p:spPr>
      </p:sp>
      <p:sp>
        <p:nvSpPr>
          <p:cNvPr id="24" name="Text 20"/>
          <p:cNvSpPr/>
          <p:nvPr/>
        </p:nvSpPr>
        <p:spPr>
          <a:xfrm>
            <a:off x="4636008" y="551383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636008" y="5733288"/>
            <a:ext cx="27980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inventory record ready for automation.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04672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363" y="2174443"/>
            <a:ext cx="405994" cy="40599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0684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Infoblox DDI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8339328" y="2816352"/>
            <a:ext cx="27980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 networking services ahead of boot.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339328" y="336499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39328" y="3639312"/>
            <a:ext cx="279806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 management IP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forward/reverse DNS records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DHCP reservation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Option 67/150 with bootstrap URL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339328" y="5394960"/>
            <a:ext cx="2798064" cy="9144"/>
          </a:xfrm>
          <a:prstGeom prst="rect">
            <a:avLst/>
          </a:prstGeom>
          <a:solidFill>
            <a:srgbClr val="E4DFF7"/>
          </a:solidFill>
        </p:spPr>
      </p:sp>
      <p:sp>
        <p:nvSpPr>
          <p:cNvPr id="34" name="Text 29"/>
          <p:cNvSpPr/>
          <p:nvPr/>
        </p:nvSpPr>
        <p:spPr>
          <a:xfrm>
            <a:off x="8339328" y="551383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8339328" y="5733288"/>
            <a:ext cx="27980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can obtain all required network info during boot.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7C5CFA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ZTP Execution — from power-on to bootstrap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powered on, the workflow starts automatically — steps 1 through 4.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7" name="Shape 5"/>
          <p:cNvSpPr/>
          <p:nvPr/>
        </p:nvSpPr>
        <p:spPr>
          <a:xfrm>
            <a:off x="96012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238451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 Boot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unconfigured Cisco/Arista switch powers on and detects the management interface, entering ZTP mode.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3" name="Shape 10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223845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2708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8368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DHCP Discovery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8368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switch sends a DHCP Discover request. DHCP returns the management IP, subnet, gateway, DNS, and Option 67 pointing to bootstrap.py.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9" name="Shape 15"/>
          <p:cNvSpPr/>
          <p:nvPr/>
        </p:nvSpPr>
        <p:spPr>
          <a:xfrm>
            <a:off x="96012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707331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6012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Bootstrap Download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6012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the Option 67 URL, the switch securely downloads the Python bootstrap script from the ZTP server via HTTP/HTTPS.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6364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25" name="Shape 20"/>
          <p:cNvSpPr/>
          <p:nvPr/>
        </p:nvSpPr>
        <p:spPr>
          <a:xfrm>
            <a:off x="658368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707331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2708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58368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Bootstrap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58368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script collects hardware inventory (serial, model, OS version, interfaces), validates software, installs root certificates if needed, and determines if an OS upgrade is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7C5CFA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ZTP Execution — from automation to handover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hands off to Ansible AAP, which configures, validates, and closes the loop — steps 5 through 8.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7" name="Shape 5"/>
          <p:cNvSpPr/>
          <p:nvPr/>
        </p:nvSpPr>
        <p:spPr>
          <a:xfrm>
            <a:off x="96012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238451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Automation Handoff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invokes Ansible Automation Platform using REST APIs and passes all discovered facts.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3" name="Shape 10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223845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2708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8368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Configuration Deployment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8368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AAP generates a device-specific configuration from Jinja2 templates stored in Git, upgrades software if required, installs certificates, applies configuration and saves it.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9" name="Shape 15"/>
          <p:cNvSpPr/>
          <p:nvPr/>
        </p:nvSpPr>
        <p:spPr>
          <a:xfrm>
            <a:off x="96012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707331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6012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6012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health checks verify interfaces, routing protocols, LLDP neighbors, port channels and overall operational status.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6364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25" name="Shape 20"/>
          <p:cNvSpPr/>
          <p:nvPr/>
        </p:nvSpPr>
        <p:spPr>
          <a:xfrm>
            <a:off x="658368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707331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2708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58368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Handover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58368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results are logged, ServiceNow is updated, monitoring begins and the switch is marked production ready.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Inside the automation: three AAP jobs, step by step</a:t>
            </a:r>
            <a:endParaRPr lang="en-US" sz="2400" dirty="0"/>
          </a:p>
        </p:txBody>
      </p:sp>
      <p:sp>
        <p:nvSpPr>
          <p:cNvPr id="6" name="Subtitle"/>
          <p:cNvSpPr/>
          <p:nvPr/>
        </p:nvSpPr>
        <p:spPr>
          <a:xfrm>
            <a:off x="640080" y="133502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POAP, Deploy Config, and Certificate &amp; Validate actually do on the switch and in AAP.</a:t>
            </a:r>
            <a:endParaRPr lang="en-US" sz="1250" dirty="0"/>
          </a:p>
        </p:txBody>
      </p:sp>
      <p:sp>
        <p:nvSpPr>
          <p:cNvPr id="7" name="Card 0"/>
          <p:cNvSpPr/>
          <p:nvPr/>
        </p:nvSpPr>
        <p:spPr>
          <a:xfrm>
            <a:off x="64008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Circle 0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9" name="CircleNum 0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ColTitle 0"/>
          <p:cNvSpPr/>
          <p:nvPr/>
        </p:nvSpPr>
        <p:spPr>
          <a:xfrm>
            <a:off x="160020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 Boot: POAP</a:t>
            </a:r>
            <a:endParaRPr lang="en-US" sz="1450" dirty="0"/>
          </a:p>
        </p:txBody>
      </p:sp>
      <p:sp>
        <p:nvSpPr>
          <p:cNvPr id="11" name="List 0"/>
          <p:cNvSpPr/>
          <p:nvPr/>
        </p:nvSpPr>
        <p:spPr>
          <a:xfrm>
            <a:off x="932688" y="2751840"/>
            <a:ext cx="2798064" cy="342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for DHCP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DHCP address and its POAP file link via DHCP options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running poap.py on the switch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the Deploy Config job and wait for it to finish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success, download the config file from ZTP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the config file and copy it to scheduled-config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the config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the Certificate and Validate job (continues, no check)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Reboot</a:t>
            </a:r>
            <a:endParaRPr lang="en-US" sz="950" dirty="0"/>
          </a:p>
        </p:txBody>
      </p:sp>
      <p:sp>
        <p:nvSpPr>
          <p:cNvPr id="12" name="Card 1"/>
          <p:cNvSpPr/>
          <p:nvPr/>
        </p:nvSpPr>
        <p:spPr>
          <a:xfrm>
            <a:off x="434340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Circle 1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14" name="CircleNum 1"/>
          <p:cNvSpPr/>
          <p:nvPr/>
        </p:nvSpPr>
        <p:spPr>
          <a:xfrm>
            <a:off x="461772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ColTitle 1"/>
          <p:cNvSpPr/>
          <p:nvPr/>
        </p:nvSpPr>
        <p:spPr>
          <a:xfrm>
            <a:off x="530352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 Config</a:t>
            </a:r>
            <a:endParaRPr lang="en-US" sz="1450" dirty="0"/>
          </a:p>
        </p:txBody>
      </p:sp>
      <p:sp>
        <p:nvSpPr>
          <p:cNvPr id="16" name="List 1"/>
          <p:cNvSpPr/>
          <p:nvPr/>
        </p:nvSpPr>
        <p:spPr>
          <a:xfrm>
            <a:off x="4636008" y="2751840"/>
            <a:ext cx="2798064" cy="342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switch status in atWork (STAGING/PROVISIONING/CONFIGURING) and set status to PROVISIONING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for config intent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for config intent for the PEER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secrets from HCV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and validate the configurations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 configuration intent to ZTP</a:t>
            </a:r>
            <a:endParaRPr lang="en-US" sz="950" dirty="0"/>
          </a:p>
        </p:txBody>
      </p:sp>
      <p:sp>
        <p:nvSpPr>
          <p:cNvPr id="17" name="Card 2"/>
          <p:cNvSpPr/>
          <p:nvPr/>
        </p:nvSpPr>
        <p:spPr>
          <a:xfrm>
            <a:off x="804672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Circle 2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3FA796"/>
          </a:solidFill>
        </p:spPr>
      </p:sp>
      <p:sp>
        <p:nvSpPr>
          <p:cNvPr id="19" name="CircleNum 2"/>
          <p:cNvSpPr/>
          <p:nvPr/>
        </p:nvSpPr>
        <p:spPr>
          <a:xfrm>
            <a:off x="832104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ColTitle 2"/>
          <p:cNvSpPr/>
          <p:nvPr/>
        </p:nvSpPr>
        <p:spPr>
          <a:xfrm>
            <a:off x="900684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Certificate &amp; Validate</a:t>
            </a:r>
            <a:endParaRPr lang="en-US" sz="1450" dirty="0"/>
          </a:p>
        </p:txBody>
      </p:sp>
      <p:sp>
        <p:nvSpPr>
          <p:cNvPr id="21" name="List 2"/>
          <p:cNvSpPr/>
          <p:nvPr/>
        </p:nvSpPr>
        <p:spPr>
          <a:xfrm>
            <a:off x="8339328" y="2751840"/>
            <a:ext cx="2798064" cy="342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secrets from HCV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SSH reachability check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upgrade validation (verify current and target version)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upgrade and verify the installation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and install certificate (Venafi)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config intent from atWork against current config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tests and prepare CSV report</a:t>
            </a:r>
            <a:endParaRPr lang="en-US" sz="950" dirty="0"/>
          </a:p>
          <a:p>
            <a:pPr marL="274320" indent="-274320">
              <a:lnSpc>
                <a:spcPct val="112000"/>
              </a:lnSpc>
              <a:spcAft>
                <a:spcPts val="500"/>
              </a:spcAft>
              <a:buFont typeface="Calibri" panose="020F0502020204030204"/>
              <a:buAutoNum type="arabicPeriod"/>
            </a:pPr>
            <a:r>
              <a:rPr lang="en-US" sz="9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the testing report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Detailed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data and control move across systems from reservation to production handover.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1–5 — PREPARATION THROUGH FACT COLLECTION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10241280" cy="0"/>
          </a:xfrm>
          <a:prstGeom prst="line">
            <a:avLst/>
          </a:prstGeom>
          <a:noFill/>
          <a:ln w="25400">
            <a:solidFill>
              <a:srgbClr val="D8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E8A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 → ServiceNow → Infoblox → DHCP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8269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Power 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4301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4301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DHCP Discover </a:t>
            </a: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options 67/43</a:t>
            </a:r>
            <a:endParaRPr lang="en-IN" altLang="en-US" sz="950" b="1" dirty="0">
              <a:solidFill>
                <a:srgbClr val="241A5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0333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bootstrap.py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96365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6365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Info Collection</a:t>
            </a:r>
            <a:endParaRPr lang="en-IN" altLang="en-US" sz="950" b="1" dirty="0">
              <a:solidFill>
                <a:srgbClr val="241A5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6–10 — AUTOMATION THROUGH HANDOVER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" y="4434840"/>
            <a:ext cx="10241280" cy="0"/>
          </a:xfrm>
          <a:prstGeom prst="line">
            <a:avLst/>
          </a:prstGeom>
          <a:noFill/>
          <a:ln w="25400">
            <a:solidFill>
              <a:srgbClr val="D8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→ </a:t>
            </a: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</a:t>
            </a: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AAP</a:t>
            </a: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Job</a:t>
            </a:r>
            <a:endParaRPr lang="en-IN" altLang="en-US" sz="950" b="1" dirty="0">
              <a:solidFill>
                <a:srgbClr val="241A5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8269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Downloads the configuration by Serial Number(From atwork)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4301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4301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Deployment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0333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333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96365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6365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42416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to Use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23560" y="3401568"/>
            <a:ext cx="329184" cy="329184"/>
          </a:xfrm>
          <a:prstGeom prst="ellipse">
            <a:avLst/>
          </a:prstGeom>
          <a:solidFill>
            <a:srgbClr val="F1EDFA"/>
          </a:solidFill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354" y="3444362"/>
            <a:ext cx="243596" cy="24359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Component responsibilities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systems span both phases of the ZTP workflow, each with a defined role and responsibility.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40080" y="1371600"/>
          <a:ext cx="1088136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2103120"/>
                <a:gridCol w="621792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Responsibility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Rack Builder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Planning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Reserve rack position, ports and capture device information.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ServiceNow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CMDB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Maintain inventory and deployment lifecycle.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Infoblox DDI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IPAM / DNS / DHCP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Allocate IPs, DNS records and DHCP options.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DHCP Server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Bootstrap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Provide IP address and bootstrap URL.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ZTP Server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File Repository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Host Python bootstrap scripts and OS images.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 Bootstrap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Discovery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Collect facts, validate device and call AAP.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Control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Store templates, playbooks and configurations.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Ansible AAP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Upgrade software, deploy configuration and validate health.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Monitoring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Operations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Collect telemetry and ongoing health status.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of the automated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outcomes delivered end-to-end across both phases.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5" name="Shape 3"/>
          <p:cNvSpPr/>
          <p:nvPr/>
        </p:nvSpPr>
        <p:spPr>
          <a:xfrm>
            <a:off x="2034540" y="2029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750" y="2113178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Completely automated Day-0 provisioning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9" name="Shape 6"/>
          <p:cNvSpPr/>
          <p:nvPr/>
        </p:nvSpPr>
        <p:spPr>
          <a:xfrm>
            <a:off x="5783580" y="2029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0" y="2113178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788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configuration across all sites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13" name="Shape 9"/>
          <p:cNvSpPr/>
          <p:nvPr/>
        </p:nvSpPr>
        <p:spPr>
          <a:xfrm>
            <a:off x="9532620" y="2029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830" y="2113178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6760" y="2788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time reduced from hours to minutes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17" name="Shape 12"/>
          <p:cNvSpPr/>
          <p:nvPr/>
        </p:nvSpPr>
        <p:spPr>
          <a:xfrm>
            <a:off x="2034540" y="4315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750" y="4399178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5074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inventory and audit trail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8912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21" name="Shape 15"/>
          <p:cNvSpPr/>
          <p:nvPr/>
        </p:nvSpPr>
        <p:spPr>
          <a:xfrm>
            <a:off x="5783580" y="4315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790" y="4399178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17720" y="5074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software compliance and validation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3816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25" name="Shape 18"/>
          <p:cNvSpPr/>
          <p:nvPr/>
        </p:nvSpPr>
        <p:spPr>
          <a:xfrm>
            <a:off x="9532620" y="4315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5830" y="4399178"/>
            <a:ext cx="473659" cy="47365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66760" y="5074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Vendor-independent — supports Cisco and Arista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486400" cy="5486400"/>
          </a:xfrm>
          <a:prstGeom prst="ellipse">
            <a:avLst/>
          </a:prstGeom>
          <a:solidFill>
            <a:srgbClr val="1B1250"/>
          </a:solidFill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phases. One self-provisioning switch.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planning establishes identity and reservation; automation takes it the rest of the way to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E1544"/>
          </a:solidFill>
        </p:spPr>
      </p:sp>
      <p:sp>
        <p:nvSpPr>
          <p:cNvPr id="6" name="Shape 4"/>
          <p:cNvSpPr/>
          <p:nvPr/>
        </p:nvSpPr>
        <p:spPr>
          <a:xfrm>
            <a:off x="822960" y="2468880"/>
            <a:ext cx="5120640" cy="73152"/>
          </a:xfrm>
          <a:prstGeom prst="rect">
            <a:avLst/>
          </a:prstGeom>
          <a:solidFill>
            <a:srgbClr val="E8A857"/>
          </a:solidFill>
        </p:spPr>
      </p:sp>
      <p:sp>
        <p:nvSpPr>
          <p:cNvPr id="7" name="Text 5"/>
          <p:cNvSpPr/>
          <p:nvPr/>
        </p:nvSpPr>
        <p:spPr>
          <a:xfrm>
            <a:off x="1143000" y="27432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· PRE-ZTP PREPARATION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324612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9" name="Text 7"/>
          <p:cNvSpPr/>
          <p:nvPr/>
        </p:nvSpPr>
        <p:spPr>
          <a:xfrm>
            <a:off x="1371600" y="310896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 reserves rack, RU and 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43000" y="379476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1" name="Text 9"/>
          <p:cNvSpPr/>
          <p:nvPr/>
        </p:nvSpPr>
        <p:spPr>
          <a:xfrm>
            <a:off x="1371600" y="365760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ServiceNow records the device as CMDB source of truth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43000" y="434340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3" name="Text 11"/>
          <p:cNvSpPr/>
          <p:nvPr/>
        </p:nvSpPr>
        <p:spPr>
          <a:xfrm>
            <a:off x="1371600" y="420624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Infoblox DDI allocates IP, DNS and DHCP Option 67/150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43000" y="489204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5" name="Text 13"/>
          <p:cNvSpPr/>
          <p:nvPr/>
        </p:nvSpPr>
        <p:spPr>
          <a:xfrm>
            <a:off x="1371600" y="47548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is staged and ready for automated pickup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E1544"/>
          </a:solidFill>
        </p:spPr>
      </p:sp>
      <p:sp>
        <p:nvSpPr>
          <p:cNvPr id="17" name="Shape 15"/>
          <p:cNvSpPr/>
          <p:nvPr/>
        </p:nvSpPr>
        <p:spPr>
          <a:xfrm>
            <a:off x="6400800" y="2468880"/>
            <a:ext cx="5120640" cy="73152"/>
          </a:xfrm>
          <a:prstGeom prst="rect">
            <a:avLst/>
          </a:prstGeom>
          <a:solidFill>
            <a:srgbClr val="7C5CFA"/>
          </a:solidFill>
        </p:spPr>
      </p:sp>
      <p:sp>
        <p:nvSpPr>
          <p:cNvPr id="18" name="Text 16"/>
          <p:cNvSpPr/>
          <p:nvPr/>
        </p:nvSpPr>
        <p:spPr>
          <a:xfrm>
            <a:off x="6720840" y="27432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· ZTP EXECUTION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324612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0" name="Text 18"/>
          <p:cNvSpPr/>
          <p:nvPr/>
        </p:nvSpPr>
        <p:spPr>
          <a:xfrm>
            <a:off x="6949440" y="310896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boots, discovers DHCP, downloads bootstrap.py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379476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2" name="Text 20"/>
          <p:cNvSpPr/>
          <p:nvPr/>
        </p:nvSpPr>
        <p:spPr>
          <a:xfrm>
            <a:off x="6949440" y="365760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collects facts and calls AAP via REST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20840" y="434340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4" name="Text 22"/>
          <p:cNvSpPr/>
          <p:nvPr/>
        </p:nvSpPr>
        <p:spPr>
          <a:xfrm>
            <a:off x="6949440" y="420624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AAP deploys config from Git/Jinja2 templates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0840" y="489204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6" name="Text 24"/>
          <p:cNvSpPr/>
          <p:nvPr/>
        </p:nvSpPr>
        <p:spPr>
          <a:xfrm>
            <a:off x="6949440" y="475488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runs, then handover to production + monitoring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7720</Words>
  <Application>WPS Presentation</Application>
  <PresentationFormat>On-screen Show (16:9)</PresentationFormat>
  <Paragraphs>404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ZTP: Phase 1 &amp; Phase 2 (HLD / LLD)</dc:title>
  <dc:creator>Network Automation Team</dc:creator>
  <dc:subject>PptxGenJS Presentation</dc:subject>
  <cp:lastModifiedBy>madhu</cp:lastModifiedBy>
  <cp:revision>7</cp:revision>
  <dcterms:created xsi:type="dcterms:W3CDTF">2026-07-08T04:33:00Z</dcterms:created>
  <dcterms:modified xsi:type="dcterms:W3CDTF">2026-07-13T04:08:55Z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4D3E7CC4E6A74384888F7D022A5966F9_12</vt:lpwstr>
  </property>
  <property fmtid="{D5CDD505-2E9C-101B-9397-08002B2CF9AE}" pid="3" name="KSOProductBuildVer">
    <vt:lpwstr>1033-12.1.0.26880</vt:lpwstr>
  </property>
</Properties>
</file>