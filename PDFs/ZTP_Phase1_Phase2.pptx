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B1250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754880"/>
            <a:ext cx="4572000" cy="4572000"/>
          </a:xfrm>
          <a:prstGeom prst="ellipse">
            <a:avLst/>
          </a:prstGeom>
          <a:solidFill>
            <a:srgbClr val="18103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AUTOMATION BRIEFING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87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Zero-Touch Provisioning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B9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rack to ready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unconfigured switch finds its own IP, downloads its own instructions, and hands itself over to full automation — in two structured phases.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120640"/>
            <a:ext cx="2834640" cy="566928"/>
          </a:xfrm>
          <a:prstGeom prst="roundRect">
            <a:avLst>
              <a:gd name="adj" fmla="val 19355"/>
            </a:avLst>
          </a:prstGeom>
          <a:solidFill>
            <a:srgbClr val="1E1544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5257800"/>
            <a:ext cx="292608" cy="292608"/>
          </a:xfrm>
          <a:prstGeom prst="ellipse">
            <a:avLst/>
          </a:prstGeom>
          <a:solidFill>
            <a:srgbClr val="E8A857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5239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0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512064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Pre-Work &amp; Planning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94760" y="5120640"/>
            <a:ext cx="3017520" cy="566928"/>
          </a:xfrm>
          <a:prstGeom prst="roundRect">
            <a:avLst>
              <a:gd name="adj" fmla="val 19355"/>
            </a:avLst>
          </a:prstGeom>
          <a:solidFill>
            <a:srgbClr val="1E1544"/>
          </a:solidFill>
          <a:ln/>
        </p:spPr>
      </p:sp>
      <p:sp>
        <p:nvSpPr>
          <p:cNvPr id="12" name="Shape 10"/>
          <p:cNvSpPr/>
          <p:nvPr/>
        </p:nvSpPr>
        <p:spPr>
          <a:xfrm>
            <a:off x="3931920" y="5257800"/>
            <a:ext cx="292608" cy="292608"/>
          </a:xfrm>
          <a:prstGeom prst="ellipse">
            <a:avLst/>
          </a:prstGeom>
          <a:solidFill>
            <a:srgbClr val="7C5CFA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5239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43400" y="51206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ZTP &amp; Automation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966960" y="2743200"/>
            <a:ext cx="1463040" cy="1463040"/>
          </a:xfrm>
          <a:prstGeom prst="ellipse">
            <a:avLst/>
          </a:prstGeom>
          <a:solidFill>
            <a:srgbClr val="1E1544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7155" y="2933395"/>
            <a:ext cx="1082650" cy="1082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0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phases, one seamless deployment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hand-off from human planning to machine execution.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892040" cy="4480560"/>
          </a:xfrm>
          <a:prstGeom prst="roundRect">
            <a:avLst>
              <a:gd name="adj" fmla="val 2449"/>
            </a:avLst>
          </a:prstGeom>
          <a:solidFill>
            <a:srgbClr val="1E1544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57400"/>
            <a:ext cx="640080" cy="640080"/>
          </a:xfrm>
          <a:prstGeom prst="ellipse">
            <a:avLst/>
          </a:prstGeom>
          <a:solidFill>
            <a:srgbClr val="E8A85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050" y="214061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75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BEFORE ZTP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828800" y="2313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Pre-Work &amp; Planning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005840" y="2926080"/>
            <a:ext cx="128016" cy="128016"/>
          </a:xfrm>
          <a:prstGeom prst="ellipse">
            <a:avLst/>
          </a:prstGeom>
          <a:solidFill>
            <a:srgbClr val="E8A857"/>
          </a:solidFill>
          <a:ln/>
        </p:spPr>
      </p:sp>
      <p:sp>
        <p:nvSpPr>
          <p:cNvPr id="10" name="Text 7"/>
          <p:cNvSpPr/>
          <p:nvPr/>
        </p:nvSpPr>
        <p:spPr>
          <a:xfrm>
            <a:off x="1261872" y="27797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 Builder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61872" y="309981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 the exact physical port and rack location before install.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1005840" y="3886200"/>
            <a:ext cx="128016" cy="128016"/>
          </a:xfrm>
          <a:prstGeom prst="ellipse">
            <a:avLst/>
          </a:prstGeom>
          <a:solidFill>
            <a:srgbClr val="E8A857"/>
          </a:solidFill>
          <a:ln/>
        </p:spPr>
      </p:sp>
      <p:sp>
        <p:nvSpPr>
          <p:cNvPr id="13" name="Text 10"/>
          <p:cNvSpPr/>
          <p:nvPr/>
        </p:nvSpPr>
        <p:spPr>
          <a:xfrm>
            <a:off x="1261872" y="37398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61872" y="405993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— records every device serial and site.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1005840" y="4846320"/>
            <a:ext cx="128016" cy="128016"/>
          </a:xfrm>
          <a:prstGeom prst="ellipse">
            <a:avLst/>
          </a:prstGeom>
          <a:solidFill>
            <a:srgbClr val="E8A857"/>
          </a:solidFill>
          <a:ln/>
        </p:spPr>
      </p:sp>
      <p:sp>
        <p:nvSpPr>
          <p:cNvPr id="16" name="Text 13"/>
          <p:cNvSpPr/>
          <p:nvPr/>
        </p:nvSpPr>
        <p:spPr>
          <a:xfrm>
            <a:off x="1261872" y="47000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Infoblox DDI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61872" y="502005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Auto-allocates management IPs and pre-stages DNS records.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005840" y="55778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9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device staged and ready to be picked up by ZTP.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669280" y="3703320"/>
            <a:ext cx="457200" cy="457200"/>
          </a:xfrm>
          <a:prstGeom prst="ellipse">
            <a:avLst/>
          </a:prstGeom>
          <a:solidFill>
            <a:srgbClr val="1E1544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16" y="3762756"/>
            <a:ext cx="338328" cy="33832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537960" y="1691640"/>
            <a:ext cx="4892040" cy="4480560"/>
          </a:xfrm>
          <a:prstGeom prst="roundRect">
            <a:avLst>
              <a:gd name="adj" fmla="val 2449"/>
            </a:avLst>
          </a:prstGeom>
          <a:solidFill>
            <a:srgbClr val="1E1544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903720" y="2057400"/>
            <a:ext cx="640080" cy="640080"/>
          </a:xfrm>
          <a:prstGeom prst="ellipse">
            <a:avLst/>
          </a:prstGeom>
          <a:solidFill>
            <a:srgbClr val="7C5CFA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930" y="2140610"/>
            <a:ext cx="473659" cy="473659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726680" y="2075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THE ZTP FLOW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7726680" y="23134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Bootstrap &amp; Handover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6903720" y="2926080"/>
            <a:ext cx="128016" cy="128016"/>
          </a:xfrm>
          <a:prstGeom prst="ellipse">
            <a:avLst/>
          </a:prstGeom>
          <a:solidFill>
            <a:srgbClr val="7C5CFA"/>
          </a:solidFill>
          <a:ln/>
        </p:spPr>
      </p:sp>
      <p:sp>
        <p:nvSpPr>
          <p:cNvPr id="27" name="Text 22"/>
          <p:cNvSpPr/>
          <p:nvPr/>
        </p:nvSpPr>
        <p:spPr>
          <a:xfrm>
            <a:off x="7159752" y="277977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Boot, DHCP &amp; Bootstrap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7159752" y="309981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requests an IP, gets Option 67, downloads its Python script.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6903720" y="3886200"/>
            <a:ext cx="128016" cy="128016"/>
          </a:xfrm>
          <a:prstGeom prst="ellipse">
            <a:avLst/>
          </a:prstGeom>
          <a:solidFill>
            <a:srgbClr val="7C5CFA"/>
          </a:solidFill>
          <a:ln/>
        </p:spPr>
      </p:sp>
      <p:sp>
        <p:nvSpPr>
          <p:cNvPr id="30" name="Text 25"/>
          <p:cNvSpPr/>
          <p:nvPr/>
        </p:nvSpPr>
        <p:spPr>
          <a:xfrm>
            <a:off x="7159752" y="373989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AAP Automation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7159752" y="405993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hands off to AAP, which deploys the gold configuration.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6903720" y="4846320"/>
            <a:ext cx="128016" cy="128016"/>
          </a:xfrm>
          <a:prstGeom prst="ellipse">
            <a:avLst/>
          </a:prstGeom>
          <a:solidFill>
            <a:srgbClr val="7C5CFA"/>
          </a:solidFill>
          <a:ln/>
        </p:spPr>
      </p:sp>
      <p:sp>
        <p:nvSpPr>
          <p:cNvPr id="33" name="Text 28"/>
          <p:cNvSpPr/>
          <p:nvPr/>
        </p:nvSpPr>
        <p:spPr>
          <a:xfrm>
            <a:off x="7159752" y="470001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Handover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7159752" y="502005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is verified automatically and ServiceNow is updated.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6903720" y="55778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9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device active in production, fully validated.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E8A85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Pre-Work: preparing before ZTP begins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systems establish identity, location, and network reservation before any device is powered 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286000"/>
            <a:ext cx="594360" cy="594360"/>
          </a:xfrm>
          <a:prstGeom prst="ellipse">
            <a:avLst/>
          </a:prstGeom>
          <a:solidFill>
            <a:srgbClr val="E8A85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387" y="2363267"/>
            <a:ext cx="439826" cy="43982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52044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8C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6012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Rack Builder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32826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PLANNING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60120" y="35935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the switch is installed in the precise physical port and rack location.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43400" y="196596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2286000"/>
            <a:ext cx="594360" cy="594360"/>
          </a:xfrm>
          <a:prstGeom prst="ellipse">
            <a:avLst/>
          </a:prstGeom>
          <a:solidFill>
            <a:srgbClr val="E8A85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707" y="2363267"/>
            <a:ext cx="439826" cy="43982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2376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8C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66344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ServiceNow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663440" y="32826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CMDB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663440" y="35935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single source of truth for all device serial numbers and site metadata.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046720" y="196596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366760" y="2286000"/>
            <a:ext cx="594360" cy="594360"/>
          </a:xfrm>
          <a:prstGeom prst="ellipse">
            <a:avLst/>
          </a:prstGeom>
          <a:solidFill>
            <a:srgbClr val="E8A857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4027" y="2363267"/>
            <a:ext cx="439826" cy="43982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92708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8C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36676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Infoblox DDI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8366760" y="32826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IPAM &amp; DNS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8366760" y="35935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allocates management IPs and prepares DNS records for new devices.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640080" y="4617720"/>
            <a:ext cx="10881360" cy="1600200"/>
          </a:xfrm>
          <a:prstGeom prst="roundRect">
            <a:avLst>
              <a:gd name="adj" fmla="val 5714"/>
            </a:avLst>
          </a:prstGeom>
          <a:solidFill>
            <a:srgbClr val="241A52"/>
          </a:solidFill>
          <a:ln/>
        </p:spPr>
      </p:sp>
      <p:sp>
        <p:nvSpPr>
          <p:cNvPr id="28" name="Text 23"/>
          <p:cNvSpPr/>
          <p:nvPr/>
        </p:nvSpPr>
        <p:spPr>
          <a:xfrm>
            <a:off x="96012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PRE-WORK SEQUENCE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960120" y="5276088"/>
            <a:ext cx="329184" cy="329184"/>
          </a:xfrm>
          <a:prstGeom prst="ellipse">
            <a:avLst/>
          </a:prstGeom>
          <a:solidFill>
            <a:srgbClr val="E8A857"/>
          </a:solidFill>
          <a:ln/>
        </p:spPr>
      </p:sp>
      <p:sp>
        <p:nvSpPr>
          <p:cNvPr id="30" name="Text 25"/>
          <p:cNvSpPr/>
          <p:nvPr/>
        </p:nvSpPr>
        <p:spPr>
          <a:xfrm>
            <a:off x="960120" y="5276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822960" y="56601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 Builder reserves the port &amp; rack location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1371600" y="5440680"/>
            <a:ext cx="2148840" cy="0"/>
          </a:xfrm>
          <a:prstGeom prst="line">
            <a:avLst/>
          </a:prstGeom>
          <a:noFill/>
          <a:ln w="15875">
            <a:solidFill>
              <a:srgbClr val="6C63A0"/>
            </a:solidFill>
            <a:prstDash val="dash"/>
          </a:ln>
        </p:spPr>
      </p:sp>
      <p:sp>
        <p:nvSpPr>
          <p:cNvPr id="33" name="Shape 28"/>
          <p:cNvSpPr/>
          <p:nvPr/>
        </p:nvSpPr>
        <p:spPr>
          <a:xfrm>
            <a:off x="3520440" y="5276088"/>
            <a:ext cx="329184" cy="329184"/>
          </a:xfrm>
          <a:prstGeom prst="ellipse">
            <a:avLst/>
          </a:prstGeom>
          <a:solidFill>
            <a:srgbClr val="E8A857"/>
          </a:solidFill>
          <a:ln/>
        </p:spPr>
      </p:sp>
      <p:sp>
        <p:nvSpPr>
          <p:cNvPr id="34" name="Text 29"/>
          <p:cNvSpPr/>
          <p:nvPr/>
        </p:nvSpPr>
        <p:spPr>
          <a:xfrm>
            <a:off x="3520440" y="5276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3383280" y="56601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CAW file exported to the DC team for cabling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931920" y="5440680"/>
            <a:ext cx="2148840" cy="0"/>
          </a:xfrm>
          <a:prstGeom prst="line">
            <a:avLst/>
          </a:prstGeom>
          <a:noFill/>
          <a:ln w="15875">
            <a:solidFill>
              <a:srgbClr val="6C63A0"/>
            </a:solidFill>
            <a:prstDash val="dash"/>
          </a:ln>
        </p:spPr>
      </p:sp>
      <p:sp>
        <p:nvSpPr>
          <p:cNvPr id="37" name="Shape 32"/>
          <p:cNvSpPr/>
          <p:nvPr/>
        </p:nvSpPr>
        <p:spPr>
          <a:xfrm>
            <a:off x="6080760" y="5276088"/>
            <a:ext cx="329184" cy="329184"/>
          </a:xfrm>
          <a:prstGeom prst="ellipse">
            <a:avLst/>
          </a:prstGeom>
          <a:solidFill>
            <a:srgbClr val="E8A857"/>
          </a:solidFill>
          <a:ln/>
        </p:spPr>
      </p:sp>
      <p:sp>
        <p:nvSpPr>
          <p:cNvPr id="38" name="Text 33"/>
          <p:cNvSpPr/>
          <p:nvPr/>
        </p:nvSpPr>
        <p:spPr>
          <a:xfrm>
            <a:off x="6080760" y="5276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5943600" y="56601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team adds the new device into ServiceNow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6492240" y="5440680"/>
            <a:ext cx="2148840" cy="0"/>
          </a:xfrm>
          <a:prstGeom prst="line">
            <a:avLst/>
          </a:prstGeom>
          <a:noFill/>
          <a:ln w="15875">
            <a:solidFill>
              <a:srgbClr val="6C63A0"/>
            </a:solidFill>
            <a:prstDash val="dash"/>
          </a:ln>
        </p:spPr>
      </p:sp>
      <p:sp>
        <p:nvSpPr>
          <p:cNvPr id="41" name="Shape 36"/>
          <p:cNvSpPr/>
          <p:nvPr/>
        </p:nvSpPr>
        <p:spPr>
          <a:xfrm>
            <a:off x="8641080" y="5276088"/>
            <a:ext cx="329184" cy="329184"/>
          </a:xfrm>
          <a:prstGeom prst="ellipse">
            <a:avLst/>
          </a:prstGeom>
          <a:solidFill>
            <a:srgbClr val="E8A857"/>
          </a:solidFill>
          <a:ln/>
        </p:spPr>
      </p:sp>
      <p:sp>
        <p:nvSpPr>
          <p:cNvPr id="42" name="Text 37"/>
          <p:cNvSpPr/>
          <p:nvPr/>
        </p:nvSpPr>
        <p:spPr>
          <a:xfrm>
            <a:off x="8641080" y="5276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8503920" y="56601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staged — ready to be picked up by ZTP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0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7C5CF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the switch to the automation engine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unconfigured hardware uses DHCP and Python to bootstrap its own setup process.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1E1544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286000"/>
            <a:ext cx="566928" cy="566928"/>
          </a:xfrm>
          <a:prstGeom prst="ellipse">
            <a:avLst/>
          </a:prstGeom>
          <a:solidFill>
            <a:srgbClr val="2A206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821" y="2359701"/>
            <a:ext cx="419527" cy="41952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C31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60120" y="30175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Initialization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60120" y="3392424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or Arista switches without a startup configuration enter ZTP mode and initiate a DHCP request.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63640" y="196596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1E1544"/>
          </a:solidFill>
          <a:ln/>
        </p:spPr>
      </p:sp>
      <p:sp>
        <p:nvSpPr>
          <p:cNvPr id="13" name="Shape 10"/>
          <p:cNvSpPr/>
          <p:nvPr/>
        </p:nvSpPr>
        <p:spPr>
          <a:xfrm>
            <a:off x="6583680" y="2286000"/>
            <a:ext cx="566928" cy="566928"/>
          </a:xfrm>
          <a:prstGeom prst="ellipse">
            <a:avLst/>
          </a:prstGeom>
          <a:solidFill>
            <a:srgbClr val="2A206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381" y="2359701"/>
            <a:ext cx="419527" cy="41952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2708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C31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583680" y="30175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DHCP Server Response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6583680" y="3392424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responds with standard IP configuration and Option 67, specifying the boot-file name on the ZTP server.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40080" y="443484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1E1544"/>
          </a:solidFill>
          <a:ln/>
        </p:spPr>
      </p:sp>
      <p:sp>
        <p:nvSpPr>
          <p:cNvPr id="19" name="Shape 15"/>
          <p:cNvSpPr/>
          <p:nvPr/>
        </p:nvSpPr>
        <p:spPr>
          <a:xfrm>
            <a:off x="960120" y="4754880"/>
            <a:ext cx="566928" cy="566928"/>
          </a:xfrm>
          <a:prstGeom prst="ellipse">
            <a:avLst/>
          </a:prstGeom>
          <a:solidFill>
            <a:srgbClr val="2A206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821" y="4828581"/>
            <a:ext cx="419527" cy="41952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035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C31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960120" y="54864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Script Download</a:t>
            </a:r>
            <a:endParaRPr lang="en-US" sz="1650" dirty="0"/>
          </a:p>
        </p:txBody>
      </p:sp>
      <p:sp>
        <p:nvSpPr>
          <p:cNvPr id="23" name="Text 18"/>
          <p:cNvSpPr/>
          <p:nvPr/>
        </p:nvSpPr>
        <p:spPr>
          <a:xfrm>
            <a:off x="960120" y="5861304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switch downloads a Python bootstrap script that functions as the brain for the initial setup process.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263640" y="443484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1E1544"/>
          </a:solidFill>
          <a:ln/>
        </p:spPr>
      </p:sp>
      <p:sp>
        <p:nvSpPr>
          <p:cNvPr id="25" name="Shape 20"/>
          <p:cNvSpPr/>
          <p:nvPr/>
        </p:nvSpPr>
        <p:spPr>
          <a:xfrm>
            <a:off x="6583680" y="4754880"/>
            <a:ext cx="566928" cy="566928"/>
          </a:xfrm>
          <a:prstGeom prst="ellipse">
            <a:avLst/>
          </a:prstGeom>
          <a:solidFill>
            <a:srgbClr val="2A206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381" y="4828581"/>
            <a:ext cx="419527" cy="41952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92708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C31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6583680" y="54864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&amp; Automation Handoff</a:t>
            </a:r>
            <a:endParaRPr lang="en-US" sz="1650" dirty="0"/>
          </a:p>
        </p:txBody>
      </p:sp>
      <p:sp>
        <p:nvSpPr>
          <p:cNvPr id="29" name="Text 23"/>
          <p:cNvSpPr/>
          <p:nvPr/>
        </p:nvSpPr>
        <p:spPr>
          <a:xfrm>
            <a:off x="6583680" y="5861304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 identifies the switch serial number, verifies the OS version, upgrades if necessary, and hands control to Ansible AAP.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0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7C5CF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automation to production handover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AAP takes control from the bootstrap script and drives the device to a validated, production-ready state.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1E1544"/>
          </a:solidFill>
          <a:ln/>
        </p:spPr>
      </p:sp>
      <p:sp>
        <p:nvSpPr>
          <p:cNvPr id="7" name="Shape 5"/>
          <p:cNvSpPr/>
          <p:nvPr/>
        </p:nvSpPr>
        <p:spPr>
          <a:xfrm>
            <a:off x="1965960" y="2331720"/>
            <a:ext cx="731520" cy="731520"/>
          </a:xfrm>
          <a:prstGeom prst="ellipse">
            <a:avLst/>
          </a:prstGeom>
          <a:solidFill>
            <a:srgbClr val="2A206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1058" y="2426818"/>
            <a:ext cx="541325" cy="5413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365760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AAP builds the full config from the switch serial number and deploys the gold configuration to the device.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3400" y="201168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1E1544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0" y="2331720"/>
            <a:ext cx="731520" cy="731520"/>
          </a:xfrm>
          <a:prstGeom prst="ellipse">
            <a:avLst/>
          </a:prstGeom>
          <a:solidFill>
            <a:srgbClr val="2A206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378" y="2426818"/>
            <a:ext cx="541325" cy="5413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17720" y="365760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 reboots to trigger a post-build job; AAP performs automated certification and health verification.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46720" y="201168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1E1544"/>
          </a:solidFill>
          <a:ln/>
        </p:spPr>
      </p:sp>
      <p:sp>
        <p:nvSpPr>
          <p:cNvPr id="17" name="Shape 13"/>
          <p:cNvSpPr/>
          <p:nvPr/>
        </p:nvSpPr>
        <p:spPr>
          <a:xfrm>
            <a:off x="9372600" y="2331720"/>
            <a:ext cx="731520" cy="731520"/>
          </a:xfrm>
          <a:prstGeom prst="ellipse">
            <a:avLst/>
          </a:prstGeom>
          <a:solidFill>
            <a:srgbClr val="2A206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7698" y="2426818"/>
            <a:ext cx="541325" cy="5413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7532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Handover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321040" y="365760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validated, the device is marked active and ServiceNow is automatically updated with its final state.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B9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triggers: code upgrade  →  config build (TOWER_CONFIG_TMPL_ID)  →  certification &amp; validation (TOWER_VALIDATION_TMPL_ID)  →  post-build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5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8-phase lifecycle </a:t>
            </a:r>
            <a:pPr algn="ctr" indent="0" marL="0">
              <a:buNone/>
            </a:pPr>
            <a:r>
              <a:rPr lang="en-US" sz="2600" b="1" dirty="0">
                <a:solidFill>
                  <a:srgbClr val="241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an automated deployment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transition from physical installation to a fully validated production-ready state.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0" y="1417320"/>
            <a:ext cx="164592" cy="164592"/>
          </a:xfrm>
          <a:prstGeom prst="ellipse">
            <a:avLst/>
          </a:prstGeom>
          <a:solidFill>
            <a:srgbClr val="E8A857"/>
          </a:solidFill>
          <a:ln/>
        </p:spPr>
      </p:sp>
      <p:sp>
        <p:nvSpPr>
          <p:cNvPr id="5" name="Text 3"/>
          <p:cNvSpPr/>
          <p:nvPr/>
        </p:nvSpPr>
        <p:spPr>
          <a:xfrm>
            <a:off x="4416552" y="1380744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Pre-Work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309360" y="1417320"/>
            <a:ext cx="164592" cy="164592"/>
          </a:xfrm>
          <a:prstGeom prst="ellipse">
            <a:avLst/>
          </a:prstGeom>
          <a:solidFill>
            <a:srgbClr val="7C5CFA"/>
          </a:solidFill>
          <a:ln/>
        </p:spPr>
      </p:sp>
      <p:sp>
        <p:nvSpPr>
          <p:cNvPr id="7" name="Text 5"/>
          <p:cNvSpPr/>
          <p:nvPr/>
        </p:nvSpPr>
        <p:spPr>
          <a:xfrm>
            <a:off x="6519672" y="1380744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ZTP &amp; Automation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3749040"/>
            <a:ext cx="10424160" cy="0"/>
          </a:xfrm>
          <a:prstGeom prst="line">
            <a:avLst/>
          </a:prstGeom>
          <a:noFill/>
          <a:ln w="25400">
            <a:solidFill>
              <a:srgbClr val="D8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3493008"/>
            <a:ext cx="512064" cy="512064"/>
          </a:xfrm>
          <a:prstGeom prst="ellipse">
            <a:avLst/>
          </a:prstGeom>
          <a:solidFill>
            <a:srgbClr val="241A52"/>
          </a:solidFill>
          <a:ln w="28575">
            <a:solidFill>
              <a:srgbClr val="E8A8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3493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7512" y="288036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6" y="2932664"/>
            <a:ext cx="297729" cy="29772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82880" y="41330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55448" y="4425696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space and record serials in ServiceNow.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101814" y="3493008"/>
            <a:ext cx="512064" cy="512064"/>
          </a:xfrm>
          <a:prstGeom prst="ellipse">
            <a:avLst/>
          </a:prstGeom>
          <a:solidFill>
            <a:srgbClr val="241A52"/>
          </a:solidFill>
          <a:ln w="28575">
            <a:solidFill>
              <a:srgbClr val="E8A85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101814" y="3493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2156678" y="288036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981" y="2932664"/>
            <a:ext cx="297729" cy="29772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672046" y="41330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Prep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644614" y="4425696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Infoblox creates DNS/DHCP records.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590979" y="3493008"/>
            <a:ext cx="512064" cy="512064"/>
          </a:xfrm>
          <a:prstGeom prst="ellipse">
            <a:avLst/>
          </a:prstGeom>
          <a:solidFill>
            <a:srgbClr val="241A52"/>
          </a:solidFill>
          <a:ln w="28575">
            <a:solidFill>
              <a:srgbClr val="7C5CF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590979" y="3493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3645843" y="288036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8147" y="2932664"/>
            <a:ext cx="297729" cy="297729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161211" y="41330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Boot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3133779" y="4425696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requests IP via management network.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5080145" y="3493008"/>
            <a:ext cx="512064" cy="512064"/>
          </a:xfrm>
          <a:prstGeom prst="ellipse">
            <a:avLst/>
          </a:prstGeom>
          <a:solidFill>
            <a:srgbClr val="241A52"/>
          </a:solidFill>
          <a:ln w="28575">
            <a:solidFill>
              <a:srgbClr val="7C5CF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080145" y="3493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5135009" y="288036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7313" y="2932664"/>
            <a:ext cx="297729" cy="297729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650377" y="41330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Response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4622945" y="4425696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receives IP and bootstrap URL.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6569311" y="3493008"/>
            <a:ext cx="512064" cy="512064"/>
          </a:xfrm>
          <a:prstGeom prst="ellipse">
            <a:avLst/>
          </a:prstGeom>
          <a:solidFill>
            <a:srgbClr val="241A52"/>
          </a:solidFill>
          <a:ln w="28575">
            <a:solidFill>
              <a:srgbClr val="7C5CFA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569311" y="3493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6624175" y="288036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479" y="2932664"/>
            <a:ext cx="297729" cy="297729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139543" y="41330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6112111" y="4425696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verifies hardware and software.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8058477" y="3493008"/>
            <a:ext cx="512064" cy="512064"/>
          </a:xfrm>
          <a:prstGeom prst="ellipse">
            <a:avLst/>
          </a:prstGeom>
          <a:solidFill>
            <a:srgbClr val="241A52"/>
          </a:solidFill>
          <a:ln w="28575">
            <a:solidFill>
              <a:srgbClr val="7C5CFA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8058477" y="3493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41" name="Shape 34"/>
          <p:cNvSpPr/>
          <p:nvPr/>
        </p:nvSpPr>
        <p:spPr>
          <a:xfrm>
            <a:off x="8113341" y="288036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644" y="2932664"/>
            <a:ext cx="297729" cy="297729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7628709" y="41330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44" name="Text 36"/>
          <p:cNvSpPr/>
          <p:nvPr/>
        </p:nvSpPr>
        <p:spPr>
          <a:xfrm>
            <a:off x="7601277" y="4425696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AAP deploys gold configuration.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9547642" y="3493008"/>
            <a:ext cx="512064" cy="512064"/>
          </a:xfrm>
          <a:prstGeom prst="ellipse">
            <a:avLst/>
          </a:prstGeom>
          <a:solidFill>
            <a:srgbClr val="241A52"/>
          </a:solidFill>
          <a:ln w="28575">
            <a:solidFill>
              <a:srgbClr val="7C5CFA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9547642" y="3493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47" name="Shape 39"/>
          <p:cNvSpPr/>
          <p:nvPr/>
        </p:nvSpPr>
        <p:spPr>
          <a:xfrm>
            <a:off x="9602506" y="288036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4810" y="2932664"/>
            <a:ext cx="297729" cy="297729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9117874" y="41330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50" name="Text 41"/>
          <p:cNvSpPr/>
          <p:nvPr/>
        </p:nvSpPr>
        <p:spPr>
          <a:xfrm>
            <a:off x="9090442" y="4425696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verification of health.</a:t>
            </a:r>
            <a:endParaRPr lang="en-US" sz="950" dirty="0"/>
          </a:p>
        </p:txBody>
      </p:sp>
      <p:sp>
        <p:nvSpPr>
          <p:cNvPr id="51" name="Shape 42"/>
          <p:cNvSpPr/>
          <p:nvPr/>
        </p:nvSpPr>
        <p:spPr>
          <a:xfrm>
            <a:off x="11036808" y="3493008"/>
            <a:ext cx="512064" cy="512064"/>
          </a:xfrm>
          <a:prstGeom prst="ellipse">
            <a:avLst/>
          </a:prstGeom>
          <a:solidFill>
            <a:srgbClr val="241A52"/>
          </a:solidFill>
          <a:ln w="28575">
            <a:solidFill>
              <a:srgbClr val="7C5CFA"/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11036808" y="3493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53" name="Shape 44"/>
          <p:cNvSpPr/>
          <p:nvPr/>
        </p:nvSpPr>
        <p:spPr>
          <a:xfrm>
            <a:off x="11091672" y="288036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43976" y="2932664"/>
            <a:ext cx="297729" cy="297729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10607040" y="41330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</a:t>
            </a:r>
            <a:endParaRPr lang="en-US" sz="1200" dirty="0"/>
          </a:p>
        </p:txBody>
      </p:sp>
      <p:sp>
        <p:nvSpPr>
          <p:cNvPr id="56" name="Text 46"/>
          <p:cNvSpPr/>
          <p:nvPr/>
        </p:nvSpPr>
        <p:spPr>
          <a:xfrm>
            <a:off x="10579608" y="4425696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active; ServiceNow updated.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core components </a:t>
            </a:r>
            <a:pPr indent="0" marL="0">
              <a:buNone/>
            </a:pPr>
            <a:r>
              <a:rPr lang="en-US" sz="2600" b="1" dirty="0">
                <a:solidFill>
                  <a:srgbClr val="7C5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the ZTP ecosystem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multi-vendor architecture bridging physical installation and automated management.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822960"/>
                <a:gridCol w="1920240"/>
                <a:gridCol w="62179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is needed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5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41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Builder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7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Planning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5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Ensures the switch is installed in the precise physical port and rack location.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41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7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CMDB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5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Acts as the single source of truth for all device serial numbers and site metadata.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41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Infoblox DDI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7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IPAM &amp; DNS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5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Automatically allocates management IPs and prepares DNS records for new devices.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41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DHCP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5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7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67/150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5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Directs the unconfigured switch to the ZTP server to retrieve its bootstrap instructions.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41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ZTP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5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7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Hosting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5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Provides the initial Python bootstrap scripts and approved OS images to the switch.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41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Bootstrap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5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7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5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Collects hardware-specific details and initiates the primary automation workflow.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41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Ansible AAP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5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7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5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Generates the final configuration, applies it, and performs all health validations.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0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194560"/>
            <a:ext cx="5486400" cy="5486400"/>
          </a:xfrm>
          <a:prstGeom prst="ellipse">
            <a:avLst/>
          </a:prstGeom>
          <a:solidFill>
            <a:srgbClr val="1B125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phases. One self-provisioning switch.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planning establishes identity and reservation; automation takes it the rest of the way to production.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5120640" cy="3017520"/>
          </a:xfrm>
          <a:prstGeom prst="roundRect">
            <a:avLst>
              <a:gd name="adj" fmla="val 3030"/>
            </a:avLst>
          </a:prstGeom>
          <a:solidFill>
            <a:srgbClr val="1E1544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468880"/>
            <a:ext cx="5120640" cy="73152"/>
          </a:xfrm>
          <a:prstGeom prst="rect">
            <a:avLst/>
          </a:prstGeom>
          <a:solidFill>
            <a:srgbClr val="E8A857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PRE-WORK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43000" y="3246120"/>
            <a:ext cx="109728" cy="109728"/>
          </a:xfrm>
          <a:prstGeom prst="ellipse">
            <a:avLst/>
          </a:prstGeom>
          <a:solidFill>
            <a:srgbClr val="E8A857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1089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 Builder reserves the physical slot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43000" y="3776472"/>
            <a:ext cx="109728" cy="109728"/>
          </a:xfrm>
          <a:prstGeom prst="ellipse">
            <a:avLst/>
          </a:prstGeom>
          <a:solidFill>
            <a:srgbClr val="E8A857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63931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records the device as the CMDB source of truth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43000" y="4306824"/>
            <a:ext cx="109728" cy="109728"/>
          </a:xfrm>
          <a:prstGeom prst="ellipse">
            <a:avLst/>
          </a:prstGeom>
          <a:solidFill>
            <a:srgbClr val="E8A857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416966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Infoblox DDI pre-allocates IP and DNS records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43000" y="4837176"/>
            <a:ext cx="109728" cy="109728"/>
          </a:xfrm>
          <a:prstGeom prst="ellipse">
            <a:avLst/>
          </a:prstGeom>
          <a:solidFill>
            <a:srgbClr val="E8A857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70001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is staged and ready for pickup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2468880"/>
            <a:ext cx="5120640" cy="3017520"/>
          </a:xfrm>
          <a:prstGeom prst="roundRect">
            <a:avLst>
              <a:gd name="adj" fmla="val 3030"/>
            </a:avLst>
          </a:prstGeom>
          <a:solidFill>
            <a:srgbClr val="1E1544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2468880"/>
            <a:ext cx="5120640" cy="73152"/>
          </a:xfrm>
          <a:prstGeom prst="rect">
            <a:avLst/>
          </a:prstGeom>
          <a:solidFill>
            <a:srgbClr val="7C5CFA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9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ZTP &amp; AUTOMATION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3246120"/>
            <a:ext cx="109728" cy="109728"/>
          </a:xfrm>
          <a:prstGeom prst="ellipse">
            <a:avLst/>
          </a:prstGeom>
          <a:solidFill>
            <a:srgbClr val="7C5CFA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31089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boots, requests DHCP, gets Option 67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20840" y="3776472"/>
            <a:ext cx="109728" cy="109728"/>
          </a:xfrm>
          <a:prstGeom prst="ellipse">
            <a:avLst/>
          </a:prstGeom>
          <a:solidFill>
            <a:srgbClr val="7C5CFA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363931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bootstrap script downloads and runs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20840" y="4306824"/>
            <a:ext cx="109728" cy="109728"/>
          </a:xfrm>
          <a:prstGeom prst="ellipse">
            <a:avLst/>
          </a:prstGeom>
          <a:solidFill>
            <a:srgbClr val="7C5CFA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4169664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AAP deploys the gold configuration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20840" y="4837176"/>
            <a:ext cx="109728" cy="109728"/>
          </a:xfrm>
          <a:prstGeom prst="ellipse">
            <a:avLst/>
          </a:prstGeom>
          <a:solidFill>
            <a:srgbClr val="7C5CFA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470001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validation, then handover to production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Zero-Touch Provisioning: Phase 1 &amp; Phase 2</dc:title>
  <dc:subject>PptxGenJS Presentation</dc:subject>
  <dc:creator>Network Automation Team</dc:creator>
  <cp:lastModifiedBy>Network Automation Team</cp:lastModifiedBy>
  <cp:revision>1</cp:revision>
  <dcterms:created xsi:type="dcterms:W3CDTF">2026-07-08T04:25:04Z</dcterms:created>
  <dcterms:modified xsi:type="dcterms:W3CDTF">2026-07-08T04:25:04Z</dcterms:modified>
</cp:coreProperties>
</file>