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B1250"/>
          </a:solidFill>
        </p:spPr>
      </p:sp>
      <p:sp>
        <p:nvSpPr>
          <p:cNvPr id="3" name="Shape 1"/>
          <p:cNvSpPr/>
          <p:nvPr/>
        </p:nvSpPr>
        <p:spPr>
          <a:xfrm>
            <a:off x="-2377440" y="4754880"/>
            <a:ext cx="4572000" cy="4572000"/>
          </a:xfrm>
          <a:prstGeom prst="ellipse">
            <a:avLst/>
          </a:prstGeom>
          <a:solidFill>
            <a:srgbClr val="18103F"/>
          </a:solidFill>
        </p:spPr>
      </p:sp>
      <p:sp>
        <p:nvSpPr>
          <p:cNvPr id="4" name="Text 2"/>
          <p:cNvSpPr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9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HLD / LLD  ·  NETWORK AUTOMATION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996696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Enterprise Zero-Touch Provisioning</a:t>
            </a:r>
            <a:endParaRPr lang="en-US" sz="3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B9A6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rack to production-ready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79552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provisioning for Cisco and Arista switches — integrating Rack Builder, ServiceNow, Infoblox DDI, DHCP, Python bootstrap, Git and Ansible Automation Platform (AAP) to eliminate manual configuration.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3429000" cy="566928"/>
          </a:xfrm>
          <a:prstGeom prst="roundRect">
            <a:avLst>
              <a:gd name="adj" fmla="val 19355"/>
            </a:avLst>
          </a:prstGeom>
          <a:solidFill>
            <a:srgbClr val="1E1544"/>
          </a:solidFill>
        </p:spPr>
      </p:sp>
      <p:sp>
        <p:nvSpPr>
          <p:cNvPr id="8" name="Shape 6"/>
          <p:cNvSpPr/>
          <p:nvPr/>
        </p:nvSpPr>
        <p:spPr>
          <a:xfrm>
            <a:off x="960120" y="5212080"/>
            <a:ext cx="292608" cy="292608"/>
          </a:xfrm>
          <a:prstGeom prst="ellipse">
            <a:avLst/>
          </a:prstGeom>
          <a:solidFill>
            <a:srgbClr val="E8A857"/>
          </a:solidFill>
        </p:spPr>
      </p:sp>
      <p:sp>
        <p:nvSpPr>
          <p:cNvPr id="9" name="Text 7"/>
          <p:cNvSpPr/>
          <p:nvPr/>
        </p:nvSpPr>
        <p:spPr>
          <a:xfrm>
            <a:off x="960120" y="51937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0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5074920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1: Pre-ZTP Preparation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5074920"/>
            <a:ext cx="2926080" cy="566928"/>
          </a:xfrm>
          <a:prstGeom prst="roundRect">
            <a:avLst>
              <a:gd name="adj" fmla="val 19355"/>
            </a:avLst>
          </a:prstGeom>
          <a:solidFill>
            <a:srgbClr val="1E1544"/>
          </a:solidFill>
        </p:spPr>
      </p:sp>
      <p:sp>
        <p:nvSpPr>
          <p:cNvPr id="12" name="Shape 10"/>
          <p:cNvSpPr/>
          <p:nvPr/>
        </p:nvSpPr>
        <p:spPr>
          <a:xfrm>
            <a:off x="4526280" y="5212080"/>
            <a:ext cx="292608" cy="292608"/>
          </a:xfrm>
          <a:prstGeom prst="ellipse">
            <a:avLst/>
          </a:prstGeom>
          <a:solidFill>
            <a:srgbClr val="7C5CFA"/>
          </a:solidFill>
        </p:spPr>
      </p:sp>
      <p:sp>
        <p:nvSpPr>
          <p:cNvPr id="13" name="Text 11"/>
          <p:cNvSpPr/>
          <p:nvPr/>
        </p:nvSpPr>
        <p:spPr>
          <a:xfrm>
            <a:off x="4526280" y="51937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5074920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2: ZTP Execution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966960" y="2743200"/>
            <a:ext cx="1463040" cy="1463040"/>
          </a:xfrm>
          <a:prstGeom prst="ellipse">
            <a:avLst/>
          </a:prstGeom>
          <a:solidFill>
            <a:srgbClr val="1E1544"/>
          </a:solidFill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7155" y="2933395"/>
            <a:ext cx="1082650" cy="1082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A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Purpose &amp; solution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881360" cy="0"/>
          </a:xfrm>
          <a:prstGeom prst="line">
            <a:avLst/>
          </a:prstGeom>
          <a:noFill/>
          <a:ln w="12700">
            <a:solidFill>
              <a:srgbClr val="E4DF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5C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PURPOSE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21208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Describes the end-to-end enterprise workflow for provisioning Cisco and Arista switches using Zero Touch Provisioning (ZTP), split into two major phases — Pre-ZTP Preparation and ZTP Execution — to eliminate manual switch configuration.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371600"/>
            <a:ext cx="0" cy="3520440"/>
          </a:xfrm>
          <a:prstGeom prst="line">
            <a:avLst/>
          </a:prstGeom>
          <a:noFill/>
          <a:ln w="12700">
            <a:solidFill>
              <a:srgbClr val="E4DF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37160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5C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 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55080" y="1691640"/>
            <a:ext cx="5166360" cy="3017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Provisioning begins long before a switch is powered on. Operational teams prepare rack assignments, reserve ports, register serials, and allocate management IPs. Once installed, the switch retrieves its bootstrap script, validates hardware/software, upgrades the OS if required, receives its production configuration, performs health validation, and updates enterprise inventory systems.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5120640"/>
            <a:ext cx="1408176" cy="438912"/>
          </a:xfrm>
          <a:prstGeom prst="roundRect">
            <a:avLst>
              <a:gd name="adj" fmla="val 50000"/>
            </a:avLst>
          </a:prstGeom>
          <a:solidFill>
            <a:srgbClr val="241A52"/>
          </a:solidFill>
        </p:spPr>
      </p:sp>
      <p:sp>
        <p:nvSpPr>
          <p:cNvPr id="10" name="Text 8"/>
          <p:cNvSpPr/>
          <p:nvPr/>
        </p:nvSpPr>
        <p:spPr>
          <a:xfrm>
            <a:off x="640080" y="5120640"/>
            <a:ext cx="140817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Rack Builder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31136" y="5120640"/>
            <a:ext cx="1225296" cy="438912"/>
          </a:xfrm>
          <a:prstGeom prst="roundRect">
            <a:avLst>
              <a:gd name="adj" fmla="val 50000"/>
            </a:avLst>
          </a:prstGeom>
          <a:solidFill>
            <a:srgbClr val="241A52"/>
          </a:solidFill>
        </p:spPr>
      </p:sp>
      <p:sp>
        <p:nvSpPr>
          <p:cNvPr id="12" name="Text 10"/>
          <p:cNvSpPr/>
          <p:nvPr/>
        </p:nvSpPr>
        <p:spPr>
          <a:xfrm>
            <a:off x="2231136" y="5120640"/>
            <a:ext cx="122529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ServiceNow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39312" y="5120640"/>
            <a:ext cx="1408176" cy="438912"/>
          </a:xfrm>
          <a:prstGeom prst="roundRect">
            <a:avLst>
              <a:gd name="adj" fmla="val 50000"/>
            </a:avLst>
          </a:prstGeom>
          <a:solidFill>
            <a:srgbClr val="241A52"/>
          </a:solidFill>
        </p:spPr>
      </p:sp>
      <p:sp>
        <p:nvSpPr>
          <p:cNvPr id="14" name="Text 12"/>
          <p:cNvSpPr/>
          <p:nvPr/>
        </p:nvSpPr>
        <p:spPr>
          <a:xfrm>
            <a:off x="3639312" y="5120640"/>
            <a:ext cx="140817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Infoblox DDI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30368" y="5120640"/>
            <a:ext cx="676656" cy="438912"/>
          </a:xfrm>
          <a:prstGeom prst="roundRect">
            <a:avLst>
              <a:gd name="adj" fmla="val 50000"/>
            </a:avLst>
          </a:prstGeom>
          <a:solidFill>
            <a:srgbClr val="241A52"/>
          </a:solidFill>
        </p:spPr>
      </p:sp>
      <p:sp>
        <p:nvSpPr>
          <p:cNvPr id="16" name="Text 14"/>
          <p:cNvSpPr/>
          <p:nvPr/>
        </p:nvSpPr>
        <p:spPr>
          <a:xfrm>
            <a:off x="5230368" y="5120640"/>
            <a:ext cx="67665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DHCP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9904" y="5120640"/>
            <a:ext cx="859536" cy="438912"/>
          </a:xfrm>
          <a:prstGeom prst="roundRect">
            <a:avLst>
              <a:gd name="adj" fmla="val 50000"/>
            </a:avLst>
          </a:prstGeom>
          <a:solidFill>
            <a:srgbClr val="241A52"/>
          </a:solidFill>
        </p:spPr>
      </p:sp>
      <p:sp>
        <p:nvSpPr>
          <p:cNvPr id="18" name="Text 16"/>
          <p:cNvSpPr/>
          <p:nvPr/>
        </p:nvSpPr>
        <p:spPr>
          <a:xfrm>
            <a:off x="6089904" y="5120640"/>
            <a:ext cx="85953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0" y="5120640"/>
            <a:ext cx="585216" cy="438912"/>
          </a:xfrm>
          <a:prstGeom prst="roundRect">
            <a:avLst>
              <a:gd name="adj" fmla="val 50000"/>
            </a:avLst>
          </a:prstGeom>
          <a:solidFill>
            <a:srgbClr val="241A52"/>
          </a:solidFill>
        </p:spPr>
      </p:sp>
      <p:sp>
        <p:nvSpPr>
          <p:cNvPr id="20" name="Text 18"/>
          <p:cNvSpPr/>
          <p:nvPr/>
        </p:nvSpPr>
        <p:spPr>
          <a:xfrm>
            <a:off x="7132320" y="5120640"/>
            <a:ext cx="58521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00416" y="5120640"/>
            <a:ext cx="1316736" cy="438912"/>
          </a:xfrm>
          <a:prstGeom prst="roundRect">
            <a:avLst>
              <a:gd name="adj" fmla="val 50000"/>
            </a:avLst>
          </a:prstGeom>
          <a:solidFill>
            <a:srgbClr val="241A52"/>
          </a:solidFill>
        </p:spPr>
      </p:sp>
      <p:sp>
        <p:nvSpPr>
          <p:cNvPr id="22" name="Text 20"/>
          <p:cNvSpPr/>
          <p:nvPr/>
        </p:nvSpPr>
        <p:spPr>
          <a:xfrm>
            <a:off x="7900416" y="5120640"/>
            <a:ext cx="131673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Ansible AAP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phases, one seamless deployment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structured hand-off from human planning to machine execution.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892040" cy="4480560"/>
          </a:xfrm>
          <a:prstGeom prst="roundRect">
            <a:avLst>
              <a:gd name="adj" fmla="val 2449"/>
            </a:avLst>
          </a:prstGeom>
          <a:solidFill>
            <a:srgbClr val="1E1544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57400"/>
            <a:ext cx="640080" cy="640080"/>
          </a:xfrm>
          <a:prstGeom prst="ellipse">
            <a:avLst/>
          </a:prstGeom>
          <a:solidFill>
            <a:srgbClr val="E8A857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050" y="21406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574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kern="0" spc="50" dirty="0">
                <a:solidFill>
                  <a:srgbClr val="E8A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 — PRE-ZTP PREPARATION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05840" y="2606040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Prepares all enterprise systems before the switch is connected.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05840" y="3291840"/>
            <a:ext cx="128016" cy="128016"/>
          </a:xfrm>
          <a:prstGeom prst="ellipse">
            <a:avLst/>
          </a:prstGeom>
          <a:solidFill>
            <a:srgbClr val="E8A857"/>
          </a:solidFill>
        </p:spPr>
      </p:sp>
      <p:sp>
        <p:nvSpPr>
          <p:cNvPr id="10" name="Text 7"/>
          <p:cNvSpPr/>
          <p:nvPr/>
        </p:nvSpPr>
        <p:spPr>
          <a:xfrm>
            <a:off x="1261872" y="3145536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Rack Builder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261872" y="3465576"/>
            <a:ext cx="3977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Reserve rack, RU position, management port; record vendor/model/serial.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005840" y="4224528"/>
            <a:ext cx="128016" cy="128016"/>
          </a:xfrm>
          <a:prstGeom prst="ellipse">
            <a:avLst/>
          </a:prstGeom>
          <a:solidFill>
            <a:srgbClr val="E8A857"/>
          </a:solidFill>
        </p:spPr>
      </p:sp>
      <p:sp>
        <p:nvSpPr>
          <p:cNvPr id="13" name="Text 10"/>
          <p:cNvSpPr/>
          <p:nvPr/>
        </p:nvSpPr>
        <p:spPr>
          <a:xfrm>
            <a:off x="1261872" y="4078224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ServiceNow CMDB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261872" y="4398264"/>
            <a:ext cx="3977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device record; store serial, site, rack, owner; track lifecycle status.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005840" y="5157216"/>
            <a:ext cx="128016" cy="128016"/>
          </a:xfrm>
          <a:prstGeom prst="ellipse">
            <a:avLst/>
          </a:prstGeom>
          <a:solidFill>
            <a:srgbClr val="E8A857"/>
          </a:solidFill>
        </p:spPr>
      </p:sp>
      <p:sp>
        <p:nvSpPr>
          <p:cNvPr id="16" name="Text 13"/>
          <p:cNvSpPr/>
          <p:nvPr/>
        </p:nvSpPr>
        <p:spPr>
          <a:xfrm>
            <a:off x="1261872" y="5010912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Infoblox DDI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261872" y="5330952"/>
            <a:ext cx="3977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Allocate management IP; create DNS records and DHCP reservation with Option 67/150.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05840" y="6235700"/>
            <a:ext cx="4160520" cy="493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B9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network infrastructure fully prepared — device ready for automated provisioning.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69280" y="3703320"/>
            <a:ext cx="457200" cy="457200"/>
          </a:xfrm>
          <a:prstGeom prst="ellipse">
            <a:avLst/>
          </a:prstGeom>
          <a:solidFill>
            <a:srgbClr val="1E1544"/>
          </a:solidFill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3762756"/>
            <a:ext cx="338328" cy="33832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537960" y="1691640"/>
            <a:ext cx="4892040" cy="4480560"/>
          </a:xfrm>
          <a:prstGeom prst="roundRect">
            <a:avLst>
              <a:gd name="adj" fmla="val 2449"/>
            </a:avLst>
          </a:prstGeom>
          <a:solidFill>
            <a:srgbClr val="1E1544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903720" y="2057400"/>
            <a:ext cx="640080" cy="640080"/>
          </a:xfrm>
          <a:prstGeom prst="ellipse">
            <a:avLst/>
          </a:prstGeom>
          <a:solidFill>
            <a:srgbClr val="7C5CFA"/>
          </a:solidFill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930" y="2140610"/>
            <a:ext cx="473659" cy="473659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726680" y="20574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kern="0" spc="50" dirty="0">
                <a:solidFill>
                  <a:srgbClr val="B9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 — ZTP EXECUTION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903720" y="2606040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Once the switch is powered on, the full ZTP workflow starts automatically.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903720" y="3291840"/>
            <a:ext cx="128016" cy="128016"/>
          </a:xfrm>
          <a:prstGeom prst="ellipse">
            <a:avLst/>
          </a:prstGeom>
          <a:solidFill>
            <a:srgbClr val="7C5CFA"/>
          </a:solidFill>
        </p:spPr>
      </p:sp>
      <p:sp>
        <p:nvSpPr>
          <p:cNvPr id="27" name="Text 22"/>
          <p:cNvSpPr/>
          <p:nvPr/>
        </p:nvSpPr>
        <p:spPr>
          <a:xfrm>
            <a:off x="7159752" y="3145536"/>
            <a:ext cx="3977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Boot → DHCP → Bootstrap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7159752" y="3465576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 boots, discovers DHCP, and downloads bootstrap.py from the ZTP server.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903720" y="4224528"/>
            <a:ext cx="128016" cy="128016"/>
          </a:xfrm>
          <a:prstGeom prst="ellipse">
            <a:avLst/>
          </a:prstGeom>
          <a:solidFill>
            <a:srgbClr val="7C5CFA"/>
          </a:solidFill>
        </p:spPr>
      </p:sp>
      <p:sp>
        <p:nvSpPr>
          <p:cNvPr id="30" name="Text 25"/>
          <p:cNvSpPr/>
          <p:nvPr/>
        </p:nvSpPr>
        <p:spPr>
          <a:xfrm>
            <a:off x="7159752" y="4078224"/>
            <a:ext cx="3977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→ AAP Handoff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7159752" y="4398264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Script collects facts and calls Ansible AAP via REST API to deploy config from Git.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903720" y="5157216"/>
            <a:ext cx="128016" cy="128016"/>
          </a:xfrm>
          <a:prstGeom prst="ellipse">
            <a:avLst/>
          </a:prstGeom>
          <a:solidFill>
            <a:srgbClr val="7C5CFA"/>
          </a:solidFill>
        </p:spPr>
      </p:sp>
      <p:sp>
        <p:nvSpPr>
          <p:cNvPr id="33" name="Text 28"/>
          <p:cNvSpPr/>
          <p:nvPr/>
        </p:nvSpPr>
        <p:spPr>
          <a:xfrm>
            <a:off x="7159752" y="5010912"/>
            <a:ext cx="3977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→ Handover</a:t>
            </a:r>
            <a:endParaRPr lang="en-US" sz="1350" dirty="0"/>
          </a:p>
        </p:txBody>
      </p:sp>
      <p:sp>
        <p:nvSpPr>
          <p:cNvPr id="34" name="Text 29"/>
          <p:cNvSpPr/>
          <p:nvPr/>
        </p:nvSpPr>
        <p:spPr>
          <a:xfrm>
            <a:off x="7159752" y="5330952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 checks run, ServiceNow updates, monitoring begins, device goes production.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858000" y="6263513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B9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switch fully configured</a:t>
            </a:r>
            <a:r>
              <a:rPr lang="en-IN" altLang="en-US" sz="1100" i="1" dirty="0">
                <a:solidFill>
                  <a:srgbClr val="B9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and </a:t>
            </a:r>
            <a:r>
              <a:rPr lang="en-US" sz="1100" i="1" dirty="0">
                <a:solidFill>
                  <a:srgbClr val="B9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E8A857"/>
          </a:solidFill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A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Pre-ZTP Preparation: three systems, three outputs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Objectives, activities and outputs for each pre-work system, per the LLD.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383280" cy="4526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E8A857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" y="2174443"/>
            <a:ext cx="405994" cy="4059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10312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A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Rack Builder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32688" y="2816352"/>
            <a:ext cx="279806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7C5C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 the physical installation before the switch arrives.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32688" y="3364992"/>
            <a:ext cx="27980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A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ACTIVITIES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32688" y="3639312"/>
            <a:ext cx="2798064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Reserve rack location (Rack/RU)</a:t>
            </a:r>
            <a:endParaRPr lang="en-US" sz="1050" dirty="0"/>
          </a:p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Reserve management switch port</a:t>
            </a:r>
            <a:endParaRPr lang="en-US" sz="1050" dirty="0"/>
          </a:p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 serial number, model, asset tag</a:t>
            </a:r>
            <a:endParaRPr lang="en-US" sz="1050" dirty="0"/>
          </a:p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cabling and power availability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32688" y="5394960"/>
            <a:ext cx="2798064" cy="9144"/>
          </a:xfrm>
          <a:prstGeom prst="rect">
            <a:avLst/>
          </a:prstGeom>
          <a:solidFill>
            <a:srgbClr val="E4DFF7"/>
          </a:solidFill>
        </p:spPr>
      </p:sp>
      <p:sp>
        <p:nvSpPr>
          <p:cNvPr id="14" name="Text 11"/>
          <p:cNvSpPr/>
          <p:nvPr/>
        </p:nvSpPr>
        <p:spPr>
          <a:xfrm>
            <a:off x="932688" y="5513832"/>
            <a:ext cx="27980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A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32688" y="5733288"/>
            <a:ext cx="279806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deployment request is generated and forwarded for inventory registration.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43400" y="1828800"/>
            <a:ext cx="3383280" cy="4526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17720" y="2103120"/>
            <a:ext cx="548640" cy="548640"/>
          </a:xfrm>
          <a:prstGeom prst="ellipse">
            <a:avLst/>
          </a:prstGeom>
          <a:solidFill>
            <a:srgbClr val="E8A857"/>
          </a:solidFill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043" y="2174443"/>
            <a:ext cx="405994" cy="40599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03520" y="210312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A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ServiceNow CMDB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636008" y="2816352"/>
            <a:ext cx="279806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7C5C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Maintain the source of truth for network assets.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636008" y="3364992"/>
            <a:ext cx="27980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A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ACTIVITIES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636008" y="3639312"/>
            <a:ext cx="2798064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CMDB record</a:t>
            </a:r>
            <a:endParaRPr lang="en-US" sz="1050" dirty="0"/>
          </a:p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serial, vendor, model, site, rack, owner</a:t>
            </a:r>
            <a:endParaRPr lang="en-US" sz="1050" dirty="0"/>
          </a:p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Associate change request &amp; deployment ticket</a:t>
            </a:r>
            <a:endParaRPr lang="en-US" sz="1050" dirty="0"/>
          </a:p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status: Planned → In Progress → Completed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636008" y="5394960"/>
            <a:ext cx="2798064" cy="9144"/>
          </a:xfrm>
          <a:prstGeom prst="rect">
            <a:avLst/>
          </a:prstGeom>
          <a:solidFill>
            <a:srgbClr val="E4DFF7"/>
          </a:solidFill>
        </p:spPr>
      </p:sp>
      <p:sp>
        <p:nvSpPr>
          <p:cNvPr id="24" name="Text 20"/>
          <p:cNvSpPr/>
          <p:nvPr/>
        </p:nvSpPr>
        <p:spPr>
          <a:xfrm>
            <a:off x="4636008" y="5513832"/>
            <a:ext cx="27980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A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636008" y="5733288"/>
            <a:ext cx="279806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inventory record ready for automation.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046720" y="1828800"/>
            <a:ext cx="3383280" cy="4526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321040" y="2103120"/>
            <a:ext cx="548640" cy="548640"/>
          </a:xfrm>
          <a:prstGeom prst="ellipse">
            <a:avLst/>
          </a:prstGeom>
          <a:solidFill>
            <a:srgbClr val="E8A857"/>
          </a:solidFill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2363" y="2174443"/>
            <a:ext cx="405994" cy="40599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006840" y="210312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A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Infoblox DDI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8339328" y="2816352"/>
            <a:ext cx="279806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7C5C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 networking services ahead of boot.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8339328" y="3364992"/>
            <a:ext cx="27980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A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ACTIVITIES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8339328" y="3639312"/>
            <a:ext cx="2798064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Allocate management IP</a:t>
            </a:r>
            <a:endParaRPr lang="en-US" sz="1050" dirty="0"/>
          </a:p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forward/reverse DNS records</a:t>
            </a:r>
            <a:endParaRPr lang="en-US" sz="1050" dirty="0"/>
          </a:p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Configure DHCP reservation</a:t>
            </a:r>
            <a:endParaRPr lang="en-US" sz="1050" dirty="0"/>
          </a:p>
          <a:p>
            <a:pPr marL="152400" indent="-1524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Configure Option 67/150 with bootstrap URL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8339328" y="5394960"/>
            <a:ext cx="2798064" cy="9144"/>
          </a:xfrm>
          <a:prstGeom prst="rect">
            <a:avLst/>
          </a:prstGeom>
          <a:solidFill>
            <a:srgbClr val="E4DFF7"/>
          </a:solidFill>
        </p:spPr>
      </p:sp>
      <p:sp>
        <p:nvSpPr>
          <p:cNvPr id="34" name="Text 29"/>
          <p:cNvSpPr/>
          <p:nvPr/>
        </p:nvSpPr>
        <p:spPr>
          <a:xfrm>
            <a:off x="8339328" y="5513832"/>
            <a:ext cx="27980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A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8339328" y="5733288"/>
            <a:ext cx="279806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Device can obtain all required network info during boot.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7C5CFA"/>
          </a:solidFill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ZTP Execution — from power-on to bootstrap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Once powered on, the workflow starts automatically — steps 1 through 4.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1E1544"/>
          </a:solidFill>
        </p:spPr>
      </p:sp>
      <p:sp>
        <p:nvSpPr>
          <p:cNvPr id="7" name="Shape 5"/>
          <p:cNvSpPr/>
          <p:nvPr/>
        </p:nvSpPr>
        <p:spPr>
          <a:xfrm>
            <a:off x="960120" y="2167128"/>
            <a:ext cx="548640" cy="54864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2238451"/>
            <a:ext cx="405994" cy="4059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0" y="20756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C31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60120" y="2862072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Device Boot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3227832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unconfigured Cisco/Arista switch powers on and detects the management interface, entering ZTP mode.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187452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1E1544"/>
          </a:solidFill>
        </p:spPr>
      </p:sp>
      <p:sp>
        <p:nvSpPr>
          <p:cNvPr id="13" name="Shape 10"/>
          <p:cNvSpPr/>
          <p:nvPr/>
        </p:nvSpPr>
        <p:spPr>
          <a:xfrm>
            <a:off x="6583680" y="2167128"/>
            <a:ext cx="548640" cy="54864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003" y="2238451"/>
            <a:ext cx="405994" cy="4059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27080" y="20756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C31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583680" y="2862072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DHCP Discovery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583680" y="3227832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switch sends a DHCP Discover request. DHCP returns the management IP, subnet, gateway, DNS, and Option 67 pointing to bootstrap.py.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" y="434340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1E1544"/>
          </a:solidFill>
        </p:spPr>
      </p:sp>
      <p:sp>
        <p:nvSpPr>
          <p:cNvPr id="19" name="Shape 15"/>
          <p:cNvSpPr/>
          <p:nvPr/>
        </p:nvSpPr>
        <p:spPr>
          <a:xfrm>
            <a:off x="960120" y="4636008"/>
            <a:ext cx="548640" cy="54864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" y="4707331"/>
            <a:ext cx="405994" cy="40599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03520" y="45445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C31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960120" y="5330952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Bootstrap Download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960120" y="5696712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the Option 67 URL, the switch securely downloads the Python bootstrap script from the ZTP server via HTTP/HTTPS.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263640" y="434340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1E1544"/>
          </a:solidFill>
        </p:spPr>
      </p:sp>
      <p:sp>
        <p:nvSpPr>
          <p:cNvPr id="25" name="Shape 20"/>
          <p:cNvSpPr/>
          <p:nvPr/>
        </p:nvSpPr>
        <p:spPr>
          <a:xfrm>
            <a:off x="6583680" y="4636008"/>
            <a:ext cx="548640" cy="54864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003" y="4707331"/>
            <a:ext cx="405994" cy="40599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927080" y="45445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C31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6583680" y="5330952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Python Bootstrap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583680" y="5696712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script collects hardware inventory (serial, model, OS version, interfaces), validates software, installs root certificates if needed, and determines if an OS upgrade is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7C5CFA"/>
          </a:solidFill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ZTP Execution — from automation to handover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hands off to Ansible AAP, which configures, validates, and closes the loop — steps 5 through 8.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1E1544"/>
          </a:solidFill>
        </p:spPr>
      </p:sp>
      <p:sp>
        <p:nvSpPr>
          <p:cNvPr id="7" name="Shape 5"/>
          <p:cNvSpPr/>
          <p:nvPr/>
        </p:nvSpPr>
        <p:spPr>
          <a:xfrm>
            <a:off x="960120" y="2167128"/>
            <a:ext cx="548640" cy="54864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2238451"/>
            <a:ext cx="405994" cy="4059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0" y="20756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C31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60120" y="2862072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Automation Handoff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3227832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invokes Ansible Automation Platform using REST APIs and passes all discovered facts.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187452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1E1544"/>
          </a:solidFill>
        </p:spPr>
      </p:sp>
      <p:sp>
        <p:nvSpPr>
          <p:cNvPr id="13" name="Shape 10"/>
          <p:cNvSpPr/>
          <p:nvPr/>
        </p:nvSpPr>
        <p:spPr>
          <a:xfrm>
            <a:off x="6583680" y="2167128"/>
            <a:ext cx="548640" cy="54864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003" y="2238451"/>
            <a:ext cx="405994" cy="4059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27080" y="20756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C31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583680" y="2862072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Configuration Deployment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583680" y="3227832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AAP generates a device-specific configuration from Jinja2 templates stored in Git, upgrades software if required, installs certificates, applies configuration and saves it.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" y="434340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1E1544"/>
          </a:solidFill>
        </p:spPr>
      </p:sp>
      <p:sp>
        <p:nvSpPr>
          <p:cNvPr id="19" name="Shape 15"/>
          <p:cNvSpPr/>
          <p:nvPr/>
        </p:nvSpPr>
        <p:spPr>
          <a:xfrm>
            <a:off x="960120" y="4636008"/>
            <a:ext cx="548640" cy="54864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" y="4707331"/>
            <a:ext cx="405994" cy="40599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03520" y="45445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C31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960120" y="5330952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960120" y="5696712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health checks verify interfaces, routing protocols, LLDP neighbors, port channels and overall operational status.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263640" y="434340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1E1544"/>
          </a:solidFill>
        </p:spPr>
      </p:sp>
      <p:sp>
        <p:nvSpPr>
          <p:cNvPr id="25" name="Shape 20"/>
          <p:cNvSpPr/>
          <p:nvPr/>
        </p:nvSpPr>
        <p:spPr>
          <a:xfrm>
            <a:off x="6583680" y="4636008"/>
            <a:ext cx="548640" cy="54864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003" y="4707331"/>
            <a:ext cx="405994" cy="40599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927080" y="45445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C31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6583680" y="5330952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Handover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583680" y="5696712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 results are logged, ServiceNow is updated, monitoring begins and the switch is marked production ready.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A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Detailed data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data and control move across systems from reservation to production handover.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A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STEPS 1–5 — PREPARATION THROUGH FACT COLLECTION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60120" y="2331720"/>
            <a:ext cx="10241280" cy="0"/>
          </a:xfrm>
          <a:prstGeom prst="line">
            <a:avLst/>
          </a:prstGeom>
          <a:noFill/>
          <a:ln w="25400">
            <a:solidFill>
              <a:srgbClr val="D8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2093976"/>
            <a:ext cx="475488" cy="475488"/>
          </a:xfrm>
          <a:prstGeom prst="ellipse">
            <a:avLst/>
          </a:prstGeom>
          <a:solidFill>
            <a:srgbClr val="241A52"/>
          </a:solidFill>
          <a:ln w="28575">
            <a:solidFill>
              <a:srgbClr val="E8A8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20939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265176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Rack Builder → ServiceNow → Infoblox → DHCP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82696" y="2093976"/>
            <a:ext cx="475488" cy="475488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82696" y="20939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65176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 Power 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43016" y="2093976"/>
            <a:ext cx="475488" cy="475488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43016" y="20939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265176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DHCP Discover </a:t>
            </a:r>
            <a:r>
              <a:rPr lang="en-IN" alt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options 67/43</a:t>
            </a:r>
            <a:endParaRPr lang="en-IN" altLang="en-US" sz="950" b="1" dirty="0">
              <a:solidFill>
                <a:srgbClr val="241A5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403336" y="2093976"/>
            <a:ext cx="475488" cy="475488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03336" y="20939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63840" y="265176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Download bootstrap.py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963656" y="2093976"/>
            <a:ext cx="475488" cy="475488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63656" y="20939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424160" y="265176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IN" alt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 Info Collection</a:t>
            </a:r>
            <a:endParaRPr lang="en-IN" altLang="en-US" sz="950" b="1" dirty="0">
              <a:solidFill>
                <a:srgbClr val="241A5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384048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C5C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STEPS 6–10 — AUTOMATION THROUGH HANDOVER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60120" y="4434840"/>
            <a:ext cx="10241280" cy="0"/>
          </a:xfrm>
          <a:prstGeom prst="line">
            <a:avLst/>
          </a:prstGeom>
          <a:noFill/>
          <a:ln w="25400">
            <a:solidFill>
              <a:srgbClr val="D8D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" y="4197096"/>
            <a:ext cx="475488" cy="475488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" y="41970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" y="475488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 → </a:t>
            </a:r>
            <a:r>
              <a:rPr lang="en-IN" alt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 </a:t>
            </a:r>
            <a:r>
              <a:rPr 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AAP</a:t>
            </a:r>
            <a:r>
              <a:rPr lang="en-IN" alt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Job</a:t>
            </a:r>
            <a:endParaRPr lang="en-IN" altLang="en-US" sz="950" b="1" dirty="0">
              <a:solidFill>
                <a:srgbClr val="241A5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82696" y="4197096"/>
            <a:ext cx="475488" cy="475488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82696" y="41970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743200" y="475488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IN" alt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Downloads the configuration by Serial Number(From atwork)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43016" y="4197096"/>
            <a:ext cx="475488" cy="475488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43016" y="41970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475488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Configuration Deployment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403336" y="4197096"/>
            <a:ext cx="475488" cy="475488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03336" y="41970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863840" y="475488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963656" y="4197096"/>
            <a:ext cx="475488" cy="475488"/>
          </a:xfrm>
          <a:prstGeom prst="ellipse">
            <a:avLst/>
          </a:prstGeom>
          <a:solidFill>
            <a:srgbClr val="241A52"/>
          </a:solidFill>
          <a:ln w="28575">
            <a:solidFill>
              <a:srgbClr val="7C5C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963656" y="41970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424160" y="475488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IN" altLang="en-US" sz="950" b="1" dirty="0">
                <a:solidFill>
                  <a:srgbClr val="241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Ready to Use 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23560" y="3401568"/>
            <a:ext cx="329184" cy="329184"/>
          </a:xfrm>
          <a:prstGeom prst="ellipse">
            <a:avLst/>
          </a:prstGeom>
          <a:solidFill>
            <a:srgbClr val="F1EDFA"/>
          </a:solidFill>
        </p:spPr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6354" y="3444362"/>
            <a:ext cx="243596" cy="243596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1A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Component responsibilities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Nine systems span both phases of the ZTP workflow, each with a defined role and responsibility.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40080" y="1371600"/>
          <a:ext cx="10881360" cy="475488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2103120"/>
                <a:gridCol w="6217920"/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Component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Phase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Role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Responsibility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5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1A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Rack Builder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A8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37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Planning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Reserve rack position, ports and capture device information.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1A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ServiceNow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A8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37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CMDB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Maintain inventory and deployment lifecycle.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1A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Infoblox DDI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A85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37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IPAM / DNS / DHCP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Allocate IPs, DNS records and DHCP options.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1A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DHCP Server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C5CF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37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Bootstrap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Provide IP address and bootstrap URL.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1A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ZTP Server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C5CF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37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File Repository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Host Python bootstrap scripts and OS images.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1A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Python Bootstrap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C5CF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37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Discovery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Collect facts, validate device and call AAP.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1A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Git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C5CF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37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Source Control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Store templates, playbooks and configurations.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1A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Ansible AAP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C5CF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37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Automation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Upgrade software, deploy configuration and validate health.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1A5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Monitoring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C5CF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376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Operations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558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Collect telemetry and ongoing health status.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Benefits of the automated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Six outcomes delivered end-to-end across both phases.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E1544"/>
          </a:solidFill>
        </p:spPr>
      </p:sp>
      <p:sp>
        <p:nvSpPr>
          <p:cNvPr id="5" name="Shape 3"/>
          <p:cNvSpPr/>
          <p:nvPr/>
        </p:nvSpPr>
        <p:spPr>
          <a:xfrm>
            <a:off x="2034540" y="2029968"/>
            <a:ext cx="640080" cy="64008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7750" y="2113178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78892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Completely automated Day-0 provisioning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89120" y="17373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E1544"/>
          </a:solidFill>
        </p:spPr>
      </p:sp>
      <p:sp>
        <p:nvSpPr>
          <p:cNvPr id="9" name="Shape 6"/>
          <p:cNvSpPr/>
          <p:nvPr/>
        </p:nvSpPr>
        <p:spPr>
          <a:xfrm>
            <a:off x="5783580" y="2029968"/>
            <a:ext cx="640080" cy="64008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790" y="2113178"/>
            <a:ext cx="473659" cy="4736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78892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configuration across all sites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138160" y="17373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E1544"/>
          </a:solidFill>
        </p:spPr>
      </p:sp>
      <p:sp>
        <p:nvSpPr>
          <p:cNvPr id="13" name="Shape 9"/>
          <p:cNvSpPr/>
          <p:nvPr/>
        </p:nvSpPr>
        <p:spPr>
          <a:xfrm>
            <a:off x="9532620" y="2029968"/>
            <a:ext cx="640080" cy="64008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830" y="2113178"/>
            <a:ext cx="473659" cy="47365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66760" y="278892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 time reduced from hours to minutes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0233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E1544"/>
          </a:solidFill>
        </p:spPr>
      </p:sp>
      <p:sp>
        <p:nvSpPr>
          <p:cNvPr id="17" name="Shape 12"/>
          <p:cNvSpPr/>
          <p:nvPr/>
        </p:nvSpPr>
        <p:spPr>
          <a:xfrm>
            <a:off x="2034540" y="4315968"/>
            <a:ext cx="640080" cy="64008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750" y="4399178"/>
            <a:ext cx="473659" cy="47365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507492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Centralized inventory and audit trail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389120" y="40233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E1544"/>
          </a:solidFill>
        </p:spPr>
      </p:sp>
      <p:sp>
        <p:nvSpPr>
          <p:cNvPr id="21" name="Shape 15"/>
          <p:cNvSpPr/>
          <p:nvPr/>
        </p:nvSpPr>
        <p:spPr>
          <a:xfrm>
            <a:off x="5783580" y="4315968"/>
            <a:ext cx="640080" cy="64008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6790" y="4399178"/>
            <a:ext cx="473659" cy="47365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17720" y="507492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software compliance and validation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138160" y="40233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E1544"/>
          </a:solidFill>
        </p:spPr>
      </p:sp>
      <p:sp>
        <p:nvSpPr>
          <p:cNvPr id="25" name="Shape 18"/>
          <p:cNvSpPr/>
          <p:nvPr/>
        </p:nvSpPr>
        <p:spPr>
          <a:xfrm>
            <a:off x="9532620" y="4315968"/>
            <a:ext cx="640080" cy="640080"/>
          </a:xfrm>
          <a:prstGeom prst="ellipse">
            <a:avLst/>
          </a:prstGeom>
          <a:solidFill>
            <a:srgbClr val="2A2060"/>
          </a:solidFill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5830" y="4399178"/>
            <a:ext cx="473659" cy="47365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66760" y="507492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Vendor-independent — supports Cisco and Arista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194560"/>
            <a:ext cx="5486400" cy="5486400"/>
          </a:xfrm>
          <a:prstGeom prst="ellipse">
            <a:avLst/>
          </a:prstGeom>
          <a:solidFill>
            <a:srgbClr val="1B1250"/>
          </a:solidFill>
        </p:spPr>
      </p:sp>
      <p:sp>
        <p:nvSpPr>
          <p:cNvPr id="3" name="Text 1"/>
          <p:cNvSpPr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phases. One self-provisioning switch.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planning establishes identity and reservation; automation takes it the rest of the way to production.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1E1544"/>
          </a:solidFill>
        </p:spPr>
      </p:sp>
      <p:sp>
        <p:nvSpPr>
          <p:cNvPr id="6" name="Shape 4"/>
          <p:cNvSpPr/>
          <p:nvPr/>
        </p:nvSpPr>
        <p:spPr>
          <a:xfrm>
            <a:off x="822960" y="2468880"/>
            <a:ext cx="5120640" cy="73152"/>
          </a:xfrm>
          <a:prstGeom prst="rect">
            <a:avLst/>
          </a:prstGeom>
          <a:solidFill>
            <a:srgbClr val="E8A857"/>
          </a:solidFill>
        </p:spPr>
      </p:sp>
      <p:sp>
        <p:nvSpPr>
          <p:cNvPr id="7" name="Text 5"/>
          <p:cNvSpPr/>
          <p:nvPr/>
        </p:nvSpPr>
        <p:spPr>
          <a:xfrm>
            <a:off x="1143000" y="274320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 · PRE-ZTP PREPARATION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43000" y="3246120"/>
            <a:ext cx="109728" cy="109728"/>
          </a:xfrm>
          <a:prstGeom prst="ellipse">
            <a:avLst/>
          </a:prstGeom>
          <a:solidFill>
            <a:srgbClr val="E8A857"/>
          </a:solidFill>
        </p:spPr>
      </p:sp>
      <p:sp>
        <p:nvSpPr>
          <p:cNvPr id="9" name="Text 7"/>
          <p:cNvSpPr/>
          <p:nvPr/>
        </p:nvSpPr>
        <p:spPr>
          <a:xfrm>
            <a:off x="1371600" y="3108960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Rack Builder reserves rack, RU and port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143000" y="3794760"/>
            <a:ext cx="109728" cy="109728"/>
          </a:xfrm>
          <a:prstGeom prst="ellipse">
            <a:avLst/>
          </a:prstGeom>
          <a:solidFill>
            <a:srgbClr val="E8A857"/>
          </a:solidFill>
        </p:spPr>
      </p:sp>
      <p:sp>
        <p:nvSpPr>
          <p:cNvPr id="11" name="Text 9"/>
          <p:cNvSpPr/>
          <p:nvPr/>
        </p:nvSpPr>
        <p:spPr>
          <a:xfrm>
            <a:off x="1371600" y="3657600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ServiceNow records the device as CMDB source of truth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143000" y="4343400"/>
            <a:ext cx="109728" cy="109728"/>
          </a:xfrm>
          <a:prstGeom prst="ellipse">
            <a:avLst/>
          </a:prstGeom>
          <a:solidFill>
            <a:srgbClr val="E8A857"/>
          </a:solidFill>
        </p:spPr>
      </p:sp>
      <p:sp>
        <p:nvSpPr>
          <p:cNvPr id="13" name="Text 11"/>
          <p:cNvSpPr/>
          <p:nvPr/>
        </p:nvSpPr>
        <p:spPr>
          <a:xfrm>
            <a:off x="1371600" y="4206240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Infoblox DDI allocates IP, DNS and DHCP Option 67/150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143000" y="4892040"/>
            <a:ext cx="109728" cy="109728"/>
          </a:xfrm>
          <a:prstGeom prst="ellipse">
            <a:avLst/>
          </a:prstGeom>
          <a:solidFill>
            <a:srgbClr val="E8A857"/>
          </a:solidFill>
        </p:spPr>
      </p:sp>
      <p:sp>
        <p:nvSpPr>
          <p:cNvPr id="15" name="Text 13"/>
          <p:cNvSpPr/>
          <p:nvPr/>
        </p:nvSpPr>
        <p:spPr>
          <a:xfrm>
            <a:off x="1371600" y="4754880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Device is staged and ready for automated pickup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246888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1E1544"/>
          </a:solidFill>
        </p:spPr>
      </p:sp>
      <p:sp>
        <p:nvSpPr>
          <p:cNvPr id="17" name="Shape 15"/>
          <p:cNvSpPr/>
          <p:nvPr/>
        </p:nvSpPr>
        <p:spPr>
          <a:xfrm>
            <a:off x="6400800" y="2468880"/>
            <a:ext cx="5120640" cy="73152"/>
          </a:xfrm>
          <a:prstGeom prst="rect">
            <a:avLst/>
          </a:prstGeom>
          <a:solidFill>
            <a:srgbClr val="7C5CFA"/>
          </a:solidFill>
        </p:spPr>
      </p:sp>
      <p:sp>
        <p:nvSpPr>
          <p:cNvPr id="18" name="Text 16"/>
          <p:cNvSpPr/>
          <p:nvPr/>
        </p:nvSpPr>
        <p:spPr>
          <a:xfrm>
            <a:off x="6720840" y="274320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9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 · ZTP EXECUTION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3246120"/>
            <a:ext cx="109728" cy="109728"/>
          </a:xfrm>
          <a:prstGeom prst="ellipse">
            <a:avLst/>
          </a:prstGeom>
          <a:solidFill>
            <a:srgbClr val="7C5CFA"/>
          </a:solidFill>
        </p:spPr>
      </p:sp>
      <p:sp>
        <p:nvSpPr>
          <p:cNvPr id="20" name="Text 18"/>
          <p:cNvSpPr/>
          <p:nvPr/>
        </p:nvSpPr>
        <p:spPr>
          <a:xfrm>
            <a:off x="6949440" y="3108960"/>
            <a:ext cx="4251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 boots, discovers DHCP, downloads bootstrap.py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20840" y="3794760"/>
            <a:ext cx="109728" cy="109728"/>
          </a:xfrm>
          <a:prstGeom prst="ellipse">
            <a:avLst/>
          </a:prstGeom>
          <a:solidFill>
            <a:srgbClr val="7C5CFA"/>
          </a:solidFill>
        </p:spPr>
      </p:sp>
      <p:sp>
        <p:nvSpPr>
          <p:cNvPr id="22" name="Text 20"/>
          <p:cNvSpPr/>
          <p:nvPr/>
        </p:nvSpPr>
        <p:spPr>
          <a:xfrm>
            <a:off x="6949440" y="3657600"/>
            <a:ext cx="4251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collects facts and calls AAP via REST API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20840" y="4343400"/>
            <a:ext cx="109728" cy="109728"/>
          </a:xfrm>
          <a:prstGeom prst="ellipse">
            <a:avLst/>
          </a:prstGeom>
          <a:solidFill>
            <a:srgbClr val="7C5CFA"/>
          </a:solidFill>
        </p:spPr>
      </p:sp>
      <p:sp>
        <p:nvSpPr>
          <p:cNvPr id="24" name="Text 22"/>
          <p:cNvSpPr/>
          <p:nvPr/>
        </p:nvSpPr>
        <p:spPr>
          <a:xfrm>
            <a:off x="6949440" y="4206240"/>
            <a:ext cx="4251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AAP deploys config from Git/Jinja2 templates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720840" y="4892040"/>
            <a:ext cx="109728" cy="109728"/>
          </a:xfrm>
          <a:prstGeom prst="ellipse">
            <a:avLst/>
          </a:prstGeom>
          <a:solidFill>
            <a:srgbClr val="7C5CFA"/>
          </a:solidFill>
        </p:spPr>
      </p:sp>
      <p:sp>
        <p:nvSpPr>
          <p:cNvPr id="26" name="Text 24"/>
          <p:cNvSpPr/>
          <p:nvPr/>
        </p:nvSpPr>
        <p:spPr>
          <a:xfrm>
            <a:off x="6949440" y="4754880"/>
            <a:ext cx="4251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F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runs, then handover to production + monitoring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6643</Words>
  <Application>WPS Presentation</Application>
  <PresentationFormat>On-screen Show (16:9)</PresentationFormat>
  <Paragraphs>362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ZTP: Phase 1 &amp; Phase 2 (HLD / LLD)</dc:title>
  <dc:creator>Network Automation Team</dc:creator>
  <dc:subject>PptxGenJS Presentation</dc:subject>
  <cp:lastModifiedBy>madhu R</cp:lastModifiedBy>
  <cp:revision>6</cp:revision>
  <dcterms:created xsi:type="dcterms:W3CDTF">2026-07-08T04:33:00Z</dcterms:created>
  <dcterms:modified xsi:type="dcterms:W3CDTF">2026-07-08T04:41:35Z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4D3E7CC4E6A74384888F7D022A5966F9_12</vt:lpwstr>
  </property>
  <property fmtid="{D5CDD505-2E9C-101B-9397-08002B2CF9AE}" pid="3" name="KSOProductBuildVer">
    <vt:lpwstr>1033-12.1.0.26880</vt:lpwstr>
  </property>
</Properties>
</file>